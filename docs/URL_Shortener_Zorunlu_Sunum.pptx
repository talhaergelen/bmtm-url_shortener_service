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Merhaba hocam, dönem projesi olarak URL Shortener Service geliştirdik. Bu servis uzun URL'leri kısa linklere dönüştürüyor, kısa linke tıklandığında kullanıcıyı orijinal adrese yönlendiriyor ve her linkin tıklanma sayısını takip ediyor.
Bu projedeki ana hedefimiz karmaşık bir ürün geliştirmek değil, küçük bir mikroservisin etrafına ders kapsamında öğrendiğimiz test ve bulut mühendisliği altyapısını kurmaktı. Bu yüzden uygulamayı FastAPI ile sade tuttuk; asıl emeği test, CI/CD, Docker, Kubernetes, monitoring ve performans tarafında gösterdik.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Mimaride kullanıcı tarafında tarayıcı, Swagger, Postman ve otomatik testler var. Bunların hepsi FastAPI uygulamasına istek gönderiyor. API endpoint'leri main.py içinde, veritabanı işlemleri crud.py içinde, veri modelleri models.py içinde tutuluyor.
Veritabanı tarafında iki entity var: URL ve Click. URL kısa kodu, orijinal adresi ve toplam tıklama sayısını tutuyor. Click ise her tıklamayı ayrı kayıt olarak saklıyor. LocalStack S3 ile istatistikleri yerel AWS ortamına yazıyoruz. Prometheus metrikleri topluyor, Grafana gösteriyor, Jaeger ise tracing tarafını sağlıyor.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stratejisinde test piramidi yaklaşımını kullandık. En altta hızlı çalışan unit testler var. Bunlar kısa kod üretme algoritmasını ve CRUD fonksiyonlarını test ediyor.
Orta katmanda integration testler var. Burada API, CRUD ve veritabanı zincirinin birlikte çalışmasını kontrol ediyoruz. Testcontainers ile gerçek PostgreSQL container'ı başlatıp veritabanı davranışını ayrıca doğruladık.
Üst katmanda ise Playwright ile E2E testler var. Bunlar gerçek tarayıcı gibi ana sayfayı açıyor, URL giriyor, butona basıyor, sonuç kutusunu ve listeyi kontrol ediyor. Ayrıca Postman/Newman koleksiyonu CI içinde API akışını test ediyor.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GitHub Actions workflow tek dosyada tanımlı. Pipeline önce lint çalıştırıyor, sonra Pytest ve coverage kontrolü yapıyor. Daha sonra Newman ile Postman API testleri koşuyor. Ardından Docker image build ediliyor.
Docker image başarılı oluşturulunca Minikube üzerinde Kubernetes deployment yapılıyor. ConfigMap, Deployment ve Service manifestleri uygulanıyor. Rollout tamamlandıktan sonra smoke test çalışıyor. Smoke testte /health, /shorten, /stats, /urls/list ve delete akışı kontrol ediliyor. En sonda Playwright E2E testleri çalışıyor.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slaytta Grafana dashboard ekran görüntüsünü göstereceğiz. Prometheus uygulamadaki /metrics endpoint'ini 15 saniyede bir scrape ediyor. Uygulamada toplam oluşturulan URL sayısı, redirect sayısı, aktif URL sayısı, hata sayısı ve request duration histogramı gibi metrikler var.
Grafana bu metrikleri panele dönüştürüyor. Böylece sistem sadece çalışıyor mu diye değil, ne kadar hızlı çalışıyor, hata oranı nedir, yoğunluk artınca nasıl davranıyor gibi sorulara da cevap verebiliyoruz. Ek olarak OpenTelemetry ve Jaeger ile trace takibi bonus olarak eklendi.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Projede 87 Pytest test fonksiyonu ve 8 Postman isteği var. Coverage hedefi şartnamede en az yüzde 70'ti; biz yaklaşık yüzde 90 seviyesine çıktık.
Performans testi k6 ile yapıldı. Yük profili 100 sanal kullanıcıya kadar çıkıyor. Sonuçlarda p95 latency 87 ms çıktı, yani 500 ms hedefinin oldukça altında. Hata oranı yüzde 0.42 seviyesinde kaldı. CI/CD tarafında 7 job'lık pipeline var.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önemli öğrendiğimiz şey testlerin sonradan eklenen bir kontrol değil, mimarinin parçası olarak düşünülmesi gerektiği oldu.
Zorluklardan biri lokal ortam ile CI ortamının farklı davranmasıydı. Bunu environment variable'lar, PYTHONPATH ayarları ve fixture izolasyonu ile çözdük. Bir diğer zorluk Testcontainers'ın Docker'a bağımlı olmasıydı. Ayrıca arayüz değiştikçe Playwright selector'larının kırılabileceğini gördük, bu yüzden UI elemanlarına daha stabil id'ler verdik.
Sonuç olarak bu proje bize sadece FastAPI uygulaması yazmayı değil; test piramidi, otomatik pipeline, container ortamı, Kubernetes deployment ve observability zincirini birlikte kurmayı öğretti.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563EB"/>
          </a:solidFill>
          <a:ln w="12700">
            <a:solidFill>
              <a:srgbClr val="2563EB"/>
            </a:solidFill>
            <a:prstDash val="solid"/>
          </a:ln>
        </p:spPr>
      </p:sp>
      <p:sp>
        <p:nvSpPr>
          <p:cNvPr id="3" name="Text 1"/>
          <p:cNvSpPr/>
          <p:nvPr/>
        </p:nvSpPr>
        <p:spPr>
          <a:xfrm>
            <a:off x="502920" y="320040"/>
            <a:ext cx="4114800" cy="201168"/>
          </a:xfrm>
          <a:prstGeom prst="rect">
            <a:avLst/>
          </a:prstGeom>
          <a:noFill/>
          <a:ln/>
        </p:spPr>
        <p:txBody>
          <a:bodyPr wrap="square" lIns="0" tIns="0" rIns="0" bIns="0" rtlCol="0" anchor="ctr">
            <a:normAutofit/>
          </a:bodyPr>
          <a:lstStyle/>
          <a:p>
            <a:pPr indent="0" marL="0">
              <a:buNone/>
            </a:pPr>
            <a:r>
              <a:rPr lang="en-US" sz="850" b="1" dirty="0">
                <a:solidFill>
                  <a:srgbClr val="2563EB"/>
                </a:solidFill>
                <a:latin typeface="Aptos" pitchFamily="34" charset="0"/>
                <a:ea typeface="Aptos" pitchFamily="34" charset="-122"/>
                <a:cs typeface="Aptos" pitchFamily="34" charset="-120"/>
              </a:rPr>
              <a:t>1. PROBLEM &amp; COZUM</a:t>
            </a:r>
            <a:endParaRPr lang="en-US" sz="850" dirty="0"/>
          </a:p>
        </p:txBody>
      </p:sp>
      <p:sp>
        <p:nvSpPr>
          <p:cNvPr id="4" name="Text 2"/>
          <p:cNvSpPr/>
          <p:nvPr/>
        </p:nvSpPr>
        <p:spPr>
          <a:xfrm>
            <a:off x="502920" y="566928"/>
            <a:ext cx="8138160" cy="475488"/>
          </a:xfrm>
          <a:prstGeom prst="rect">
            <a:avLst/>
          </a:prstGeom>
          <a:noFill/>
          <a:ln/>
        </p:spPr>
        <p:txBody>
          <a:bodyPr wrap="square" lIns="0" tIns="0" rIns="0" bIns="0" rtlCol="0" anchor="ctr">
            <a:normAutofit/>
          </a:bodyPr>
          <a:lstStyle/>
          <a:p>
            <a:pPr indent="0" marL="0">
              <a:buNone/>
            </a:pPr>
            <a:r>
              <a:rPr lang="en-US" sz="2500" b="1" dirty="0">
                <a:solidFill>
                  <a:srgbClr val="102033"/>
                </a:solidFill>
                <a:latin typeface="Aptos Display" pitchFamily="34" charset="0"/>
                <a:ea typeface="Aptos Display" pitchFamily="34" charset="-122"/>
                <a:cs typeface="Aptos Display" pitchFamily="34" charset="-120"/>
              </a:rPr>
              <a:t>Kucuk servis, endustri standardinda test pipeline'i</a:t>
            </a:r>
            <a:endParaRPr lang="en-US" sz="2500" dirty="0"/>
          </a:p>
        </p:txBody>
      </p:sp>
      <p:sp>
        <p:nvSpPr>
          <p:cNvPr id="5" name="Text 3"/>
          <p:cNvSpPr/>
          <p:nvPr/>
        </p:nvSpPr>
        <p:spPr>
          <a:xfrm>
            <a:off x="11292840" y="384048"/>
            <a:ext cx="384048" cy="228600"/>
          </a:xfrm>
          <a:prstGeom prst="rect">
            <a:avLst/>
          </a:prstGeom>
          <a:solidFill>
            <a:srgbClr val="0F172A"/>
          </a:solidFill>
          <a:ln>
            <a:solidFill>
              <a:srgbClr val="0F172A"/>
            </a:solidFill>
          </a:ln>
        </p:spPr>
        <p:txBody>
          <a:bodyPr wrap="square" lIns="0" tIns="0" rIns="0" bIns="0" rtlCol="0" anchor="ctr"/>
          <a:lstStyle/>
          <a:p>
            <a:pPr algn="ctr" indent="0" marL="0">
              <a:buNone/>
            </a:pPr>
            <a:r>
              <a:rPr lang="en-US" sz="800" b="1" dirty="0">
                <a:solidFill>
                  <a:srgbClr val="FFFFFF"/>
                </a:solidFill>
                <a:latin typeface="Aptos" pitchFamily="34" charset="0"/>
                <a:ea typeface="Aptos" pitchFamily="34" charset="-122"/>
                <a:cs typeface="Aptos" pitchFamily="34" charset="-120"/>
              </a:rPr>
              <a:t>01</a:t>
            </a:r>
            <a:endParaRPr lang="en-US" sz="800" dirty="0"/>
          </a:p>
        </p:txBody>
      </p:sp>
      <p:sp>
        <p:nvSpPr>
          <p:cNvPr id="6" name="Shape 4"/>
          <p:cNvSpPr/>
          <p:nvPr/>
        </p:nvSpPr>
        <p:spPr>
          <a:xfrm>
            <a:off x="502920" y="1234440"/>
            <a:ext cx="4800600" cy="4434840"/>
          </a:xfrm>
          <a:prstGeom prst="roundRect">
            <a:avLst>
              <a:gd name="adj" fmla="val 1649"/>
            </a:avLst>
          </a:prstGeom>
          <a:solidFill>
            <a:srgbClr val="FFFFFF"/>
          </a:solidFill>
          <a:ln w="12700">
            <a:solidFill>
              <a:srgbClr val="D9E2EC"/>
            </a:solidFill>
            <a:prstDash val="solid"/>
          </a:ln>
          <a:effectLst>
            <a:outerShdw sx="100000" sy="100000" kx="0" ky="0" algn="bl" rotWithShape="0" blurRad="12700" dist="50800" dir="2700000">
              <a:srgbClr val="CBD5E1">
                <a:alpha val="22000"/>
              </a:srgbClr>
            </a:outerShdw>
          </a:effectLst>
        </p:spPr>
      </p:sp>
      <p:sp>
        <p:nvSpPr>
          <p:cNvPr id="7" name="Text 5"/>
          <p:cNvSpPr/>
          <p:nvPr/>
        </p:nvSpPr>
        <p:spPr>
          <a:xfrm>
            <a:off x="777240" y="1572768"/>
            <a:ext cx="1371600" cy="182880"/>
          </a:xfrm>
          <a:prstGeom prst="rect">
            <a:avLst/>
          </a:prstGeom>
          <a:noFill/>
          <a:ln/>
        </p:spPr>
        <p:txBody>
          <a:bodyPr wrap="square" lIns="0" tIns="0" rIns="0" bIns="0" rtlCol="0" anchor="ctr">
            <a:normAutofit/>
          </a:bodyPr>
          <a:lstStyle/>
          <a:p>
            <a:pPr indent="0" marL="0">
              <a:buNone/>
            </a:pPr>
            <a:r>
              <a:rPr lang="en-US" sz="750" b="1" dirty="0">
                <a:solidFill>
                  <a:srgbClr val="DC2626"/>
                </a:solidFill>
              </a:rPr>
              <a:t>PROBLEM</a:t>
            </a:r>
            <a:endParaRPr lang="en-US" sz="750" dirty="0"/>
          </a:p>
        </p:txBody>
      </p:sp>
      <p:sp>
        <p:nvSpPr>
          <p:cNvPr id="8" name="Text 6"/>
          <p:cNvSpPr/>
          <p:nvPr/>
        </p:nvSpPr>
        <p:spPr>
          <a:xfrm>
            <a:off x="777240" y="1874520"/>
            <a:ext cx="4160520" cy="694944"/>
          </a:xfrm>
          <a:prstGeom prst="rect">
            <a:avLst/>
          </a:prstGeom>
          <a:noFill/>
          <a:ln/>
        </p:spPr>
        <p:txBody>
          <a:bodyPr wrap="square" lIns="508" tIns="508" rIns="508" bIns="508" rtlCol="0" anchor="t">
            <a:normAutofit/>
          </a:bodyPr>
          <a:lstStyle/>
          <a:p>
            <a:pPr indent="0" marL="0">
              <a:buNone/>
            </a:pPr>
            <a:r>
              <a:rPr lang="en-US" sz="1500" b="1" dirty="0">
                <a:solidFill>
                  <a:srgbClr val="102033"/>
                </a:solidFill>
                <a:latin typeface="Aptos" pitchFamily="34" charset="0"/>
                <a:ea typeface="Aptos" pitchFamily="34" charset="-122"/>
                <a:cs typeface="Aptos" pitchFamily="34" charset="-120"/>
              </a:rPr>
              <a:t>Uzun URL'ler paylasimi zorlastirir; kisa linklerin tiklanma verisi takip edilemez.</a:t>
            </a:r>
            <a:endParaRPr lang="en-US" sz="1500" dirty="0"/>
          </a:p>
        </p:txBody>
      </p:sp>
      <p:sp>
        <p:nvSpPr>
          <p:cNvPr id="9" name="Text 7"/>
          <p:cNvSpPr/>
          <p:nvPr/>
        </p:nvSpPr>
        <p:spPr>
          <a:xfrm>
            <a:off x="777240" y="2852928"/>
            <a:ext cx="1371600" cy="182880"/>
          </a:xfrm>
          <a:prstGeom prst="rect">
            <a:avLst/>
          </a:prstGeom>
          <a:noFill/>
          <a:ln/>
        </p:spPr>
        <p:txBody>
          <a:bodyPr wrap="square" lIns="0" tIns="0" rIns="0" bIns="0" rtlCol="0" anchor="ctr">
            <a:normAutofit/>
          </a:bodyPr>
          <a:lstStyle/>
          <a:p>
            <a:pPr indent="0" marL="0">
              <a:buNone/>
            </a:pPr>
            <a:r>
              <a:rPr lang="en-US" sz="750" b="1" dirty="0">
                <a:solidFill>
                  <a:srgbClr val="059669"/>
                </a:solidFill>
              </a:rPr>
              <a:t>COZUM</a:t>
            </a:r>
            <a:endParaRPr lang="en-US" sz="750" dirty="0"/>
          </a:p>
        </p:txBody>
      </p:sp>
      <p:sp>
        <p:nvSpPr>
          <p:cNvPr id="10" name="Text 8"/>
          <p:cNvSpPr/>
          <p:nvPr/>
        </p:nvSpPr>
        <p:spPr>
          <a:xfrm>
            <a:off x="777240" y="3154680"/>
            <a:ext cx="4160520" cy="822960"/>
          </a:xfrm>
          <a:prstGeom prst="rect">
            <a:avLst/>
          </a:prstGeom>
          <a:noFill/>
          <a:ln/>
        </p:spPr>
        <p:txBody>
          <a:bodyPr wrap="square" lIns="508" tIns="508" rIns="508" bIns="508" rtlCol="0" anchor="t">
            <a:normAutofit/>
          </a:bodyPr>
          <a:lstStyle/>
          <a:p>
            <a:pPr indent="0" marL="0">
              <a:buNone/>
            </a:pPr>
            <a:r>
              <a:rPr lang="en-US" sz="1400" dirty="0">
                <a:solidFill>
                  <a:srgbClr val="102033"/>
                </a:solidFill>
                <a:latin typeface="Aptos" pitchFamily="34" charset="0"/>
                <a:ea typeface="Aptos" pitchFamily="34" charset="-122"/>
                <a:cs typeface="Aptos" pitchFamily="34" charset="-120"/>
              </a:rPr>
              <a:t>FastAPI tabanli URL Shortener: kisa kod uretir, 301 redirect yapar, tiklama istatistigi tutar.</a:t>
            </a:r>
            <a:endParaRPr lang="en-US" sz="1400" dirty="0"/>
          </a:p>
        </p:txBody>
      </p:sp>
      <p:sp>
        <p:nvSpPr>
          <p:cNvPr id="11" name="Text 9"/>
          <p:cNvSpPr/>
          <p:nvPr/>
        </p:nvSpPr>
        <p:spPr>
          <a:xfrm>
            <a:off x="777240" y="4334256"/>
            <a:ext cx="2103120" cy="182880"/>
          </a:xfrm>
          <a:prstGeom prst="rect">
            <a:avLst/>
          </a:prstGeom>
          <a:noFill/>
          <a:ln/>
        </p:spPr>
        <p:txBody>
          <a:bodyPr wrap="square" lIns="0" tIns="0" rIns="0" bIns="0" rtlCol="0" anchor="ctr">
            <a:normAutofit/>
          </a:bodyPr>
          <a:lstStyle/>
          <a:p>
            <a:pPr indent="0" marL="0">
              <a:buNone/>
            </a:pPr>
            <a:r>
              <a:rPr lang="en-US" sz="750" b="1" dirty="0">
                <a:solidFill>
                  <a:srgbClr val="2563EB"/>
                </a:solidFill>
              </a:rPr>
              <a:t>PROJE ODAGI</a:t>
            </a:r>
            <a:endParaRPr lang="en-US" sz="750" dirty="0"/>
          </a:p>
        </p:txBody>
      </p:sp>
      <p:sp>
        <p:nvSpPr>
          <p:cNvPr id="12" name="Text 10"/>
          <p:cNvSpPr/>
          <p:nvPr/>
        </p:nvSpPr>
        <p:spPr>
          <a:xfrm>
            <a:off x="777240" y="4608576"/>
            <a:ext cx="4160520" cy="685800"/>
          </a:xfrm>
          <a:prstGeom prst="rect">
            <a:avLst/>
          </a:prstGeom>
          <a:noFill/>
          <a:ln/>
        </p:spPr>
        <p:txBody>
          <a:bodyPr wrap="square" lIns="508" tIns="508" rIns="508" bIns="508" rtlCol="0" anchor="t">
            <a:normAutofit/>
          </a:bodyPr>
          <a:lstStyle/>
          <a:p>
            <a:pPr indent="0" marL="0">
              <a:buNone/>
            </a:pPr>
            <a:r>
              <a:rPr lang="en-US" sz="1250" dirty="0">
                <a:solidFill>
                  <a:srgbClr val="5B6B7D"/>
                </a:solidFill>
                <a:latin typeface="Aptos" pitchFamily="34" charset="0"/>
                <a:ea typeface="Aptos" pitchFamily="34" charset="-122"/>
                <a:cs typeface="Aptos" pitchFamily="34" charset="-120"/>
              </a:rPr>
              <a:t>Uygulama basit; asil hedef test, CI/CD, container, K8s ve observability zincirini kurmak.</a:t>
            </a:r>
            <a:endParaRPr lang="en-US" sz="1250" dirty="0"/>
          </a:p>
        </p:txBody>
      </p:sp>
      <p:sp>
        <p:nvSpPr>
          <p:cNvPr id="13" name="Shape 11"/>
          <p:cNvSpPr/>
          <p:nvPr/>
        </p:nvSpPr>
        <p:spPr>
          <a:xfrm>
            <a:off x="5715000" y="1234440"/>
            <a:ext cx="5989320" cy="4434840"/>
          </a:xfrm>
          <a:prstGeom prst="roundRect">
            <a:avLst>
              <a:gd name="adj" fmla="val 1649"/>
            </a:avLst>
          </a:prstGeom>
          <a:solidFill>
            <a:srgbClr val="EFF6FF"/>
          </a:solidFill>
          <a:ln w="12700">
            <a:solidFill>
              <a:srgbClr val="BFDBFE"/>
            </a:solidFill>
            <a:prstDash val="solid"/>
          </a:ln>
          <a:effectLst>
            <a:outerShdw sx="100000" sy="100000" kx="0" ky="0" algn="bl" rotWithShape="0" blurRad="12700" dist="50800" dir="2700000">
              <a:srgbClr val="CBD5E1">
                <a:alpha val="22000"/>
              </a:srgbClr>
            </a:outerShdw>
          </a:effectLst>
        </p:spPr>
      </p:sp>
      <p:sp>
        <p:nvSpPr>
          <p:cNvPr id="14" name="Text 12"/>
          <p:cNvSpPr/>
          <p:nvPr/>
        </p:nvSpPr>
        <p:spPr>
          <a:xfrm>
            <a:off x="6099048" y="1600200"/>
            <a:ext cx="3383280" cy="320040"/>
          </a:xfrm>
          <a:prstGeom prst="rect">
            <a:avLst/>
          </a:prstGeom>
          <a:noFill/>
          <a:ln/>
        </p:spPr>
        <p:txBody>
          <a:bodyPr wrap="square" lIns="0" tIns="0" rIns="0" bIns="0" rtlCol="0" anchor="ctr"/>
          <a:lstStyle/>
          <a:p>
            <a:pPr indent="0" marL="0">
              <a:buNone/>
            </a:pPr>
            <a:r>
              <a:rPr lang="en-US" sz="2000" b="1" dirty="0">
                <a:solidFill>
                  <a:srgbClr val="102033"/>
                </a:solidFill>
              </a:rPr>
              <a:t>URL Shortener Service</a:t>
            </a:r>
            <a:endParaRPr lang="en-US" sz="2000" dirty="0"/>
          </a:p>
        </p:txBody>
      </p:sp>
      <p:sp>
        <p:nvSpPr>
          <p:cNvPr id="15" name="Shape 13"/>
          <p:cNvSpPr/>
          <p:nvPr/>
        </p:nvSpPr>
        <p:spPr>
          <a:xfrm>
            <a:off x="6144768" y="2103120"/>
            <a:ext cx="301752" cy="301752"/>
          </a:xfrm>
          <a:prstGeom prst="ellipse">
            <a:avLst/>
          </a:prstGeom>
          <a:solidFill>
            <a:srgbClr val="2563EB"/>
          </a:solidFill>
          <a:ln w="12700">
            <a:solidFill>
              <a:srgbClr val="2563EB"/>
            </a:solidFill>
            <a:prstDash val="solid"/>
          </a:ln>
        </p:spPr>
      </p:sp>
      <p:sp>
        <p:nvSpPr>
          <p:cNvPr id="16" name="Text 14"/>
          <p:cNvSpPr/>
          <p:nvPr/>
        </p:nvSpPr>
        <p:spPr>
          <a:xfrm>
            <a:off x="6190488" y="2194560"/>
            <a:ext cx="219456" cy="82296"/>
          </a:xfrm>
          <a:prstGeom prst="rect">
            <a:avLst/>
          </a:prstGeom>
          <a:noFill/>
          <a:ln/>
        </p:spPr>
        <p:txBody>
          <a:bodyPr wrap="square" lIns="0" tIns="0" rIns="0" bIns="0" rtlCol="0" anchor="ctr"/>
          <a:lstStyle/>
          <a:p>
            <a:pPr algn="ctr" indent="0" marL="0">
              <a:buNone/>
            </a:pPr>
            <a:r>
              <a:rPr lang="en-US" sz="550" b="1" dirty="0">
                <a:solidFill>
                  <a:srgbClr val="FFFFFF"/>
                </a:solidFill>
              </a:rPr>
              <a:t>01</a:t>
            </a:r>
            <a:endParaRPr lang="en-US" sz="550" dirty="0"/>
          </a:p>
        </p:txBody>
      </p:sp>
      <p:sp>
        <p:nvSpPr>
          <p:cNvPr id="17" name="Text 15"/>
          <p:cNvSpPr/>
          <p:nvPr/>
        </p:nvSpPr>
        <p:spPr>
          <a:xfrm>
            <a:off x="6601968" y="2130552"/>
            <a:ext cx="4160520" cy="182880"/>
          </a:xfrm>
          <a:prstGeom prst="rect">
            <a:avLst/>
          </a:prstGeom>
          <a:noFill/>
          <a:ln/>
        </p:spPr>
        <p:txBody>
          <a:bodyPr wrap="square" lIns="0" tIns="0" rIns="0" bIns="0" rtlCol="0" anchor="ctr">
            <a:normAutofit/>
          </a:bodyPr>
          <a:lstStyle/>
          <a:p>
            <a:pPr indent="0" marL="0">
              <a:buNone/>
            </a:pPr>
            <a:r>
              <a:rPr lang="en-US" sz="1150" dirty="0">
                <a:solidFill>
                  <a:srgbClr val="102033"/>
                </a:solidFill>
              </a:rPr>
              <a:t>Uzun URL girilir</a:t>
            </a:r>
            <a:endParaRPr lang="en-US" sz="1150" dirty="0"/>
          </a:p>
        </p:txBody>
      </p:sp>
      <p:sp>
        <p:nvSpPr>
          <p:cNvPr id="18" name="Shape 16"/>
          <p:cNvSpPr/>
          <p:nvPr/>
        </p:nvSpPr>
        <p:spPr>
          <a:xfrm>
            <a:off x="6144768" y="2633472"/>
            <a:ext cx="301752" cy="301752"/>
          </a:xfrm>
          <a:prstGeom prst="ellipse">
            <a:avLst/>
          </a:prstGeom>
          <a:solidFill>
            <a:srgbClr val="2563EB"/>
          </a:solidFill>
          <a:ln w="12700">
            <a:solidFill>
              <a:srgbClr val="2563EB"/>
            </a:solidFill>
            <a:prstDash val="solid"/>
          </a:ln>
        </p:spPr>
      </p:sp>
      <p:sp>
        <p:nvSpPr>
          <p:cNvPr id="19" name="Text 17"/>
          <p:cNvSpPr/>
          <p:nvPr/>
        </p:nvSpPr>
        <p:spPr>
          <a:xfrm>
            <a:off x="6190488" y="2724912"/>
            <a:ext cx="219456" cy="82296"/>
          </a:xfrm>
          <a:prstGeom prst="rect">
            <a:avLst/>
          </a:prstGeom>
          <a:noFill/>
          <a:ln/>
        </p:spPr>
        <p:txBody>
          <a:bodyPr wrap="square" lIns="0" tIns="0" rIns="0" bIns="0" rtlCol="0" anchor="ctr"/>
          <a:lstStyle/>
          <a:p>
            <a:pPr algn="ctr" indent="0" marL="0">
              <a:buNone/>
            </a:pPr>
            <a:r>
              <a:rPr lang="en-US" sz="550" b="1" dirty="0">
                <a:solidFill>
                  <a:srgbClr val="FFFFFF"/>
                </a:solidFill>
              </a:rPr>
              <a:t>02</a:t>
            </a:r>
            <a:endParaRPr lang="en-US" sz="550" dirty="0"/>
          </a:p>
        </p:txBody>
      </p:sp>
      <p:sp>
        <p:nvSpPr>
          <p:cNvPr id="20" name="Text 18"/>
          <p:cNvSpPr/>
          <p:nvPr/>
        </p:nvSpPr>
        <p:spPr>
          <a:xfrm>
            <a:off x="6601968" y="2660904"/>
            <a:ext cx="4160520" cy="182880"/>
          </a:xfrm>
          <a:prstGeom prst="rect">
            <a:avLst/>
          </a:prstGeom>
          <a:noFill/>
          <a:ln/>
        </p:spPr>
        <p:txBody>
          <a:bodyPr wrap="square" lIns="0" tIns="0" rIns="0" bIns="0" rtlCol="0" anchor="ctr">
            <a:normAutofit/>
          </a:bodyPr>
          <a:lstStyle/>
          <a:p>
            <a:pPr indent="0" marL="0">
              <a:buNone/>
            </a:pPr>
            <a:r>
              <a:rPr lang="en-US" sz="1150" dirty="0">
                <a:solidFill>
                  <a:srgbClr val="102033"/>
                </a:solidFill>
              </a:rPr>
              <a:t>6 karakterlik benzersiz kod uretilir</a:t>
            </a:r>
            <a:endParaRPr lang="en-US" sz="1150" dirty="0"/>
          </a:p>
        </p:txBody>
      </p:sp>
      <p:sp>
        <p:nvSpPr>
          <p:cNvPr id="21" name="Shape 19"/>
          <p:cNvSpPr/>
          <p:nvPr/>
        </p:nvSpPr>
        <p:spPr>
          <a:xfrm>
            <a:off x="6144768" y="3163824"/>
            <a:ext cx="301752" cy="301752"/>
          </a:xfrm>
          <a:prstGeom prst="ellipse">
            <a:avLst/>
          </a:prstGeom>
          <a:solidFill>
            <a:srgbClr val="2563EB"/>
          </a:solidFill>
          <a:ln w="12700">
            <a:solidFill>
              <a:srgbClr val="2563EB"/>
            </a:solidFill>
            <a:prstDash val="solid"/>
          </a:ln>
        </p:spPr>
      </p:sp>
      <p:sp>
        <p:nvSpPr>
          <p:cNvPr id="22" name="Text 20"/>
          <p:cNvSpPr/>
          <p:nvPr/>
        </p:nvSpPr>
        <p:spPr>
          <a:xfrm>
            <a:off x="6190488" y="3255264"/>
            <a:ext cx="219456" cy="82296"/>
          </a:xfrm>
          <a:prstGeom prst="rect">
            <a:avLst/>
          </a:prstGeom>
          <a:noFill/>
          <a:ln/>
        </p:spPr>
        <p:txBody>
          <a:bodyPr wrap="square" lIns="0" tIns="0" rIns="0" bIns="0" rtlCol="0" anchor="ctr"/>
          <a:lstStyle/>
          <a:p>
            <a:pPr algn="ctr" indent="0" marL="0">
              <a:buNone/>
            </a:pPr>
            <a:r>
              <a:rPr lang="en-US" sz="550" b="1" dirty="0">
                <a:solidFill>
                  <a:srgbClr val="FFFFFF"/>
                </a:solidFill>
              </a:rPr>
              <a:t>03</a:t>
            </a:r>
            <a:endParaRPr lang="en-US" sz="550" dirty="0"/>
          </a:p>
        </p:txBody>
      </p:sp>
      <p:sp>
        <p:nvSpPr>
          <p:cNvPr id="23" name="Text 21"/>
          <p:cNvSpPr/>
          <p:nvPr/>
        </p:nvSpPr>
        <p:spPr>
          <a:xfrm>
            <a:off x="6601968" y="3191256"/>
            <a:ext cx="4160520" cy="182880"/>
          </a:xfrm>
          <a:prstGeom prst="rect">
            <a:avLst/>
          </a:prstGeom>
          <a:noFill/>
          <a:ln/>
        </p:spPr>
        <p:txBody>
          <a:bodyPr wrap="square" lIns="0" tIns="0" rIns="0" bIns="0" rtlCol="0" anchor="ctr">
            <a:normAutofit/>
          </a:bodyPr>
          <a:lstStyle/>
          <a:p>
            <a:pPr indent="0" marL="0">
              <a:buNone/>
            </a:pPr>
            <a:r>
              <a:rPr lang="en-US" sz="1150" dirty="0">
                <a:solidFill>
                  <a:srgbClr val="102033"/>
                </a:solidFill>
              </a:rPr>
              <a:t>DB'ye URL + short_code kaydedilir</a:t>
            </a:r>
            <a:endParaRPr lang="en-US" sz="1150" dirty="0"/>
          </a:p>
        </p:txBody>
      </p:sp>
      <p:sp>
        <p:nvSpPr>
          <p:cNvPr id="24" name="Shape 22"/>
          <p:cNvSpPr/>
          <p:nvPr/>
        </p:nvSpPr>
        <p:spPr>
          <a:xfrm>
            <a:off x="6144768" y="3694176"/>
            <a:ext cx="301752" cy="301752"/>
          </a:xfrm>
          <a:prstGeom prst="ellipse">
            <a:avLst/>
          </a:prstGeom>
          <a:solidFill>
            <a:srgbClr val="2563EB"/>
          </a:solidFill>
          <a:ln w="12700">
            <a:solidFill>
              <a:srgbClr val="2563EB"/>
            </a:solidFill>
            <a:prstDash val="solid"/>
          </a:ln>
        </p:spPr>
      </p:sp>
      <p:sp>
        <p:nvSpPr>
          <p:cNvPr id="25" name="Text 23"/>
          <p:cNvSpPr/>
          <p:nvPr/>
        </p:nvSpPr>
        <p:spPr>
          <a:xfrm>
            <a:off x="6190488" y="3785616"/>
            <a:ext cx="219456" cy="82296"/>
          </a:xfrm>
          <a:prstGeom prst="rect">
            <a:avLst/>
          </a:prstGeom>
          <a:noFill/>
          <a:ln/>
        </p:spPr>
        <p:txBody>
          <a:bodyPr wrap="square" lIns="0" tIns="0" rIns="0" bIns="0" rtlCol="0" anchor="ctr"/>
          <a:lstStyle/>
          <a:p>
            <a:pPr algn="ctr" indent="0" marL="0">
              <a:buNone/>
            </a:pPr>
            <a:r>
              <a:rPr lang="en-US" sz="550" b="1" dirty="0">
                <a:solidFill>
                  <a:srgbClr val="FFFFFF"/>
                </a:solidFill>
              </a:rPr>
              <a:t>04</a:t>
            </a:r>
            <a:endParaRPr lang="en-US" sz="550" dirty="0"/>
          </a:p>
        </p:txBody>
      </p:sp>
      <p:sp>
        <p:nvSpPr>
          <p:cNvPr id="26" name="Text 24"/>
          <p:cNvSpPr/>
          <p:nvPr/>
        </p:nvSpPr>
        <p:spPr>
          <a:xfrm>
            <a:off x="6601968" y="3721608"/>
            <a:ext cx="4160520" cy="182880"/>
          </a:xfrm>
          <a:prstGeom prst="rect">
            <a:avLst/>
          </a:prstGeom>
          <a:noFill/>
          <a:ln/>
        </p:spPr>
        <p:txBody>
          <a:bodyPr wrap="square" lIns="0" tIns="0" rIns="0" bIns="0" rtlCol="0" anchor="ctr">
            <a:normAutofit/>
          </a:bodyPr>
          <a:lstStyle/>
          <a:p>
            <a:pPr indent="0" marL="0">
              <a:buNone/>
            </a:pPr>
            <a:r>
              <a:rPr lang="en-US" sz="1150" dirty="0">
                <a:solidFill>
                  <a:srgbClr val="102033"/>
                </a:solidFill>
              </a:rPr>
              <a:t>Kisa link tiklaninca click_count artar</a:t>
            </a:r>
            <a:endParaRPr lang="en-US" sz="1150" dirty="0"/>
          </a:p>
        </p:txBody>
      </p:sp>
      <p:sp>
        <p:nvSpPr>
          <p:cNvPr id="27" name="Shape 25"/>
          <p:cNvSpPr/>
          <p:nvPr/>
        </p:nvSpPr>
        <p:spPr>
          <a:xfrm>
            <a:off x="6144768" y="4224528"/>
            <a:ext cx="301752" cy="301752"/>
          </a:xfrm>
          <a:prstGeom prst="ellipse">
            <a:avLst/>
          </a:prstGeom>
          <a:solidFill>
            <a:srgbClr val="2563EB"/>
          </a:solidFill>
          <a:ln w="12700">
            <a:solidFill>
              <a:srgbClr val="2563EB"/>
            </a:solidFill>
            <a:prstDash val="solid"/>
          </a:ln>
        </p:spPr>
      </p:sp>
      <p:sp>
        <p:nvSpPr>
          <p:cNvPr id="28" name="Text 26"/>
          <p:cNvSpPr/>
          <p:nvPr/>
        </p:nvSpPr>
        <p:spPr>
          <a:xfrm>
            <a:off x="6190488" y="4315968"/>
            <a:ext cx="219456" cy="82296"/>
          </a:xfrm>
          <a:prstGeom prst="rect">
            <a:avLst/>
          </a:prstGeom>
          <a:noFill/>
          <a:ln/>
        </p:spPr>
        <p:txBody>
          <a:bodyPr wrap="square" lIns="0" tIns="0" rIns="0" bIns="0" rtlCol="0" anchor="ctr"/>
          <a:lstStyle/>
          <a:p>
            <a:pPr algn="ctr" indent="0" marL="0">
              <a:buNone/>
            </a:pPr>
            <a:r>
              <a:rPr lang="en-US" sz="550" b="1" dirty="0">
                <a:solidFill>
                  <a:srgbClr val="FFFFFF"/>
                </a:solidFill>
              </a:rPr>
              <a:t>05</a:t>
            </a:r>
            <a:endParaRPr lang="en-US" sz="550" dirty="0"/>
          </a:p>
        </p:txBody>
      </p:sp>
      <p:sp>
        <p:nvSpPr>
          <p:cNvPr id="29" name="Text 27"/>
          <p:cNvSpPr/>
          <p:nvPr/>
        </p:nvSpPr>
        <p:spPr>
          <a:xfrm>
            <a:off x="6601968" y="4251960"/>
            <a:ext cx="4160520" cy="182880"/>
          </a:xfrm>
          <a:prstGeom prst="rect">
            <a:avLst/>
          </a:prstGeom>
          <a:noFill/>
          <a:ln/>
        </p:spPr>
        <p:txBody>
          <a:bodyPr wrap="square" lIns="0" tIns="0" rIns="0" bIns="0" rtlCol="0" anchor="ctr">
            <a:normAutofit/>
          </a:bodyPr>
          <a:lstStyle/>
          <a:p>
            <a:pPr indent="0" marL="0">
              <a:buNone/>
            </a:pPr>
            <a:r>
              <a:rPr lang="en-US" sz="1150" dirty="0">
                <a:solidFill>
                  <a:srgbClr val="102033"/>
                </a:solidFill>
              </a:rPr>
              <a:t>Kullanici 301 ile orijinal adrese gider</a:t>
            </a:r>
            <a:endParaRPr lang="en-US" sz="1150" dirty="0"/>
          </a:p>
        </p:txBody>
      </p:sp>
      <p:sp>
        <p:nvSpPr>
          <p:cNvPr id="30" name="Shape 28"/>
          <p:cNvSpPr/>
          <p:nvPr/>
        </p:nvSpPr>
        <p:spPr>
          <a:xfrm>
            <a:off x="6172200" y="5074920"/>
            <a:ext cx="868680" cy="310896"/>
          </a:xfrm>
          <a:prstGeom prst="roundRect">
            <a:avLst>
              <a:gd name="adj" fmla="val 38235"/>
            </a:avLst>
          </a:prstGeom>
          <a:solidFill>
            <a:srgbClr val="2563EB">
              <a:alpha val="16000"/>
            </a:srgbClr>
          </a:solidFill>
          <a:ln w="10160">
            <a:solidFill>
              <a:srgbClr val="2563EB">
                <a:alpha val="70000"/>
              </a:srgbClr>
            </a:solidFill>
            <a:prstDash val="solid"/>
          </a:ln>
        </p:spPr>
      </p:sp>
      <p:sp>
        <p:nvSpPr>
          <p:cNvPr id="31" name="Text 29"/>
          <p:cNvSpPr/>
          <p:nvPr/>
        </p:nvSpPr>
        <p:spPr>
          <a:xfrm>
            <a:off x="6245352" y="5148072"/>
            <a:ext cx="722376" cy="118872"/>
          </a:xfrm>
          <a:prstGeom prst="rect">
            <a:avLst/>
          </a:prstGeom>
          <a:noFill/>
          <a:ln/>
        </p:spPr>
        <p:txBody>
          <a:bodyPr wrap="square" lIns="0" tIns="0" rIns="0" bIns="0" rtlCol="0" anchor="ctr">
            <a:normAutofit/>
          </a:bodyPr>
          <a:lstStyle/>
          <a:p>
            <a:pPr algn="ctr" indent="0" marL="0">
              <a:buNone/>
            </a:pPr>
            <a:r>
              <a:rPr lang="en-US" sz="750" b="1" dirty="0">
                <a:solidFill>
                  <a:srgbClr val="2563EB"/>
                </a:solidFill>
              </a:rPr>
              <a:t>FastAPI</a:t>
            </a:r>
            <a:endParaRPr lang="en-US" sz="750" dirty="0"/>
          </a:p>
        </p:txBody>
      </p:sp>
      <p:sp>
        <p:nvSpPr>
          <p:cNvPr id="32" name="Shape 30"/>
          <p:cNvSpPr/>
          <p:nvPr/>
        </p:nvSpPr>
        <p:spPr>
          <a:xfrm>
            <a:off x="7178040" y="5074920"/>
            <a:ext cx="822960" cy="310896"/>
          </a:xfrm>
          <a:prstGeom prst="roundRect">
            <a:avLst>
              <a:gd name="adj" fmla="val 38235"/>
            </a:avLst>
          </a:prstGeom>
          <a:solidFill>
            <a:srgbClr val="059669">
              <a:alpha val="16000"/>
            </a:srgbClr>
          </a:solidFill>
          <a:ln w="10160">
            <a:solidFill>
              <a:srgbClr val="059669">
                <a:alpha val="70000"/>
              </a:srgbClr>
            </a:solidFill>
            <a:prstDash val="solid"/>
          </a:ln>
        </p:spPr>
      </p:sp>
      <p:sp>
        <p:nvSpPr>
          <p:cNvPr id="33" name="Text 31"/>
          <p:cNvSpPr/>
          <p:nvPr/>
        </p:nvSpPr>
        <p:spPr>
          <a:xfrm>
            <a:off x="7251192" y="5148072"/>
            <a:ext cx="676656" cy="118872"/>
          </a:xfrm>
          <a:prstGeom prst="rect">
            <a:avLst/>
          </a:prstGeom>
          <a:noFill/>
          <a:ln/>
        </p:spPr>
        <p:txBody>
          <a:bodyPr wrap="square" lIns="0" tIns="0" rIns="0" bIns="0" rtlCol="0" anchor="ctr">
            <a:normAutofit/>
          </a:bodyPr>
          <a:lstStyle/>
          <a:p>
            <a:pPr algn="ctr" indent="0" marL="0">
              <a:buNone/>
            </a:pPr>
            <a:r>
              <a:rPr lang="en-US" sz="750" b="1" dirty="0">
                <a:solidFill>
                  <a:srgbClr val="059669"/>
                </a:solidFill>
              </a:rPr>
              <a:t>Pytest</a:t>
            </a:r>
            <a:endParaRPr lang="en-US" sz="750" dirty="0"/>
          </a:p>
        </p:txBody>
      </p:sp>
      <p:sp>
        <p:nvSpPr>
          <p:cNvPr id="34" name="Shape 32"/>
          <p:cNvSpPr/>
          <p:nvPr/>
        </p:nvSpPr>
        <p:spPr>
          <a:xfrm>
            <a:off x="8138160" y="5074920"/>
            <a:ext cx="868680" cy="310896"/>
          </a:xfrm>
          <a:prstGeom prst="roundRect">
            <a:avLst>
              <a:gd name="adj" fmla="val 38235"/>
            </a:avLst>
          </a:prstGeom>
          <a:solidFill>
            <a:srgbClr val="0891B2">
              <a:alpha val="16000"/>
            </a:srgbClr>
          </a:solidFill>
          <a:ln w="10160">
            <a:solidFill>
              <a:srgbClr val="0891B2">
                <a:alpha val="70000"/>
              </a:srgbClr>
            </a:solidFill>
            <a:prstDash val="solid"/>
          </a:ln>
        </p:spPr>
      </p:sp>
      <p:sp>
        <p:nvSpPr>
          <p:cNvPr id="35" name="Text 33"/>
          <p:cNvSpPr/>
          <p:nvPr/>
        </p:nvSpPr>
        <p:spPr>
          <a:xfrm>
            <a:off x="8211312" y="5148072"/>
            <a:ext cx="722376" cy="118872"/>
          </a:xfrm>
          <a:prstGeom prst="rect">
            <a:avLst/>
          </a:prstGeom>
          <a:noFill/>
          <a:ln/>
        </p:spPr>
        <p:txBody>
          <a:bodyPr wrap="square" lIns="0" tIns="0" rIns="0" bIns="0" rtlCol="0" anchor="ctr">
            <a:normAutofit/>
          </a:bodyPr>
          <a:lstStyle/>
          <a:p>
            <a:pPr algn="ctr" indent="0" marL="0">
              <a:buNone/>
            </a:pPr>
            <a:r>
              <a:rPr lang="en-US" sz="750" b="1" dirty="0">
                <a:solidFill>
                  <a:srgbClr val="0891B2"/>
                </a:solidFill>
              </a:rPr>
              <a:t>Docker</a:t>
            </a:r>
            <a:endParaRPr lang="en-US" sz="750" dirty="0"/>
          </a:p>
        </p:txBody>
      </p:sp>
      <p:sp>
        <p:nvSpPr>
          <p:cNvPr id="36" name="Shape 34"/>
          <p:cNvSpPr/>
          <p:nvPr/>
        </p:nvSpPr>
        <p:spPr>
          <a:xfrm>
            <a:off x="9144000" y="5074920"/>
            <a:ext cx="594360" cy="310896"/>
          </a:xfrm>
          <a:prstGeom prst="roundRect">
            <a:avLst>
              <a:gd name="adj" fmla="val 38235"/>
            </a:avLst>
          </a:prstGeom>
          <a:solidFill>
            <a:srgbClr val="6D28D9">
              <a:alpha val="16000"/>
            </a:srgbClr>
          </a:solidFill>
          <a:ln w="10160">
            <a:solidFill>
              <a:srgbClr val="6D28D9">
                <a:alpha val="70000"/>
              </a:srgbClr>
            </a:solidFill>
            <a:prstDash val="solid"/>
          </a:ln>
        </p:spPr>
      </p:sp>
      <p:sp>
        <p:nvSpPr>
          <p:cNvPr id="37" name="Text 35"/>
          <p:cNvSpPr/>
          <p:nvPr/>
        </p:nvSpPr>
        <p:spPr>
          <a:xfrm>
            <a:off x="9217152" y="5148072"/>
            <a:ext cx="448056" cy="118872"/>
          </a:xfrm>
          <a:prstGeom prst="rect">
            <a:avLst/>
          </a:prstGeom>
          <a:noFill/>
          <a:ln/>
        </p:spPr>
        <p:txBody>
          <a:bodyPr wrap="square" lIns="0" tIns="0" rIns="0" bIns="0" rtlCol="0" anchor="ctr">
            <a:normAutofit/>
          </a:bodyPr>
          <a:lstStyle/>
          <a:p>
            <a:pPr algn="ctr" indent="0" marL="0">
              <a:buNone/>
            </a:pPr>
            <a:r>
              <a:rPr lang="en-US" sz="750" b="1" dirty="0">
                <a:solidFill>
                  <a:srgbClr val="6D28D9"/>
                </a:solidFill>
              </a:rPr>
              <a:t>K8s</a:t>
            </a:r>
            <a:endParaRPr lang="en-US" sz="750" dirty="0"/>
          </a:p>
        </p:txBody>
      </p:sp>
      <p:sp>
        <p:nvSpPr>
          <p:cNvPr id="38" name="Shape 36"/>
          <p:cNvSpPr/>
          <p:nvPr/>
        </p:nvSpPr>
        <p:spPr>
          <a:xfrm>
            <a:off x="9875520" y="5074920"/>
            <a:ext cx="960120" cy="310896"/>
          </a:xfrm>
          <a:prstGeom prst="roundRect">
            <a:avLst>
              <a:gd name="adj" fmla="val 38235"/>
            </a:avLst>
          </a:prstGeom>
          <a:solidFill>
            <a:srgbClr val="D97706">
              <a:alpha val="16000"/>
            </a:srgbClr>
          </a:solidFill>
          <a:ln w="10160">
            <a:solidFill>
              <a:srgbClr val="D97706">
                <a:alpha val="70000"/>
              </a:srgbClr>
            </a:solidFill>
            <a:prstDash val="solid"/>
          </a:ln>
        </p:spPr>
      </p:sp>
      <p:sp>
        <p:nvSpPr>
          <p:cNvPr id="39" name="Text 37"/>
          <p:cNvSpPr/>
          <p:nvPr/>
        </p:nvSpPr>
        <p:spPr>
          <a:xfrm>
            <a:off x="9948672" y="5148072"/>
            <a:ext cx="813816" cy="118872"/>
          </a:xfrm>
          <a:prstGeom prst="rect">
            <a:avLst/>
          </a:prstGeom>
          <a:noFill/>
          <a:ln/>
        </p:spPr>
        <p:txBody>
          <a:bodyPr wrap="square" lIns="0" tIns="0" rIns="0" bIns="0" rtlCol="0" anchor="ctr">
            <a:normAutofit/>
          </a:bodyPr>
          <a:lstStyle/>
          <a:p>
            <a:pPr algn="ctr" indent="0" marL="0">
              <a:buNone/>
            </a:pPr>
            <a:r>
              <a:rPr lang="en-US" sz="750" b="1" dirty="0">
                <a:solidFill>
                  <a:srgbClr val="D97706"/>
                </a:solidFill>
              </a:rPr>
              <a:t>Grafana</a:t>
            </a:r>
            <a:endParaRPr lang="en-US" sz="750" dirty="0"/>
          </a:p>
        </p:txBody>
      </p:sp>
      <p:sp>
        <p:nvSpPr>
          <p:cNvPr id="40" name="Shape 38"/>
          <p:cNvSpPr/>
          <p:nvPr/>
        </p:nvSpPr>
        <p:spPr>
          <a:xfrm>
            <a:off x="5989320" y="3959352"/>
            <a:ext cx="5349240" cy="960120"/>
          </a:xfrm>
          <a:prstGeom prst="roundRect">
            <a:avLst>
              <a:gd name="adj" fmla="val 4762"/>
            </a:avLst>
          </a:prstGeom>
          <a:solidFill>
            <a:srgbClr val="FFFFFF"/>
          </a:solidFill>
          <a:ln w="13970">
            <a:solidFill>
              <a:srgbClr val="2563EB">
                <a:alpha val="82000"/>
              </a:srgbClr>
            </a:solidFill>
            <a:prstDash val="solid"/>
          </a:ln>
          <a:effectLst>
            <a:outerShdw sx="100000" sy="100000" kx="0" ky="0" algn="bl" rotWithShape="0" blurRad="12700" dist="50800" dir="2700000">
              <a:srgbClr val="CBD5E1">
                <a:alpha val="18000"/>
              </a:srgbClr>
            </a:outerShdw>
          </a:effectLst>
        </p:spPr>
      </p:sp>
      <p:sp>
        <p:nvSpPr>
          <p:cNvPr id="41" name="Shape 39"/>
          <p:cNvSpPr/>
          <p:nvPr/>
        </p:nvSpPr>
        <p:spPr>
          <a:xfrm>
            <a:off x="5989320" y="3959352"/>
            <a:ext cx="73152" cy="960120"/>
          </a:xfrm>
          <a:prstGeom prst="rect">
            <a:avLst/>
          </a:prstGeom>
          <a:solidFill>
            <a:srgbClr val="2563EB"/>
          </a:solidFill>
          <a:ln w="12700">
            <a:solidFill>
              <a:srgbClr val="2563EB"/>
            </a:solidFill>
            <a:prstDash val="solid"/>
          </a:ln>
        </p:spPr>
      </p:sp>
      <p:sp>
        <p:nvSpPr>
          <p:cNvPr id="42" name="Text 40"/>
          <p:cNvSpPr/>
          <p:nvPr/>
        </p:nvSpPr>
        <p:spPr>
          <a:xfrm>
            <a:off x="6190488" y="4087368"/>
            <a:ext cx="4965192" cy="146304"/>
          </a:xfrm>
          <a:prstGeom prst="rect">
            <a:avLst/>
          </a:prstGeom>
          <a:noFill/>
          <a:ln/>
        </p:spPr>
        <p:txBody>
          <a:bodyPr wrap="square" lIns="0" tIns="0" rIns="0" bIns="0" rtlCol="0" anchor="ctr">
            <a:normAutofit/>
          </a:bodyPr>
          <a:lstStyle/>
          <a:p>
            <a:pPr indent="0" marL="0">
              <a:buNone/>
            </a:pPr>
            <a:r>
              <a:rPr lang="en-US" sz="750" b="1" dirty="0">
                <a:solidFill>
                  <a:srgbClr val="2563EB"/>
                </a:solidFill>
              </a:rPr>
              <a:t>SUNUMDA DIREKT OKU</a:t>
            </a:r>
            <a:endParaRPr lang="en-US" sz="750" dirty="0"/>
          </a:p>
        </p:txBody>
      </p:sp>
      <p:sp>
        <p:nvSpPr>
          <p:cNvPr id="43" name="Text 41"/>
          <p:cNvSpPr/>
          <p:nvPr/>
        </p:nvSpPr>
        <p:spPr>
          <a:xfrm>
            <a:off x="6190488" y="4315968"/>
            <a:ext cx="4965192" cy="484632"/>
          </a:xfrm>
          <a:prstGeom prst="rect">
            <a:avLst/>
          </a:prstGeom>
          <a:noFill/>
          <a:ln/>
        </p:spPr>
        <p:txBody>
          <a:bodyPr wrap="square" lIns="254" tIns="254" rIns="254" bIns="254" rtlCol="0" anchor="t">
            <a:normAutofit/>
          </a:bodyPr>
          <a:lstStyle/>
          <a:p>
            <a:pPr indent="0" marL="0">
              <a:buNone/>
            </a:pPr>
            <a:r>
              <a:rPr lang="en-US" sz="940" dirty="0">
                <a:solidFill>
                  <a:srgbClr val="102033"/>
                </a:solidFill>
              </a:rPr>
              <a:t>Bizim sistemimiz uzun URL'leri kısa ve paylaşılabilir linklere çeviren bir mikroservistir. Projede asıl amaç karmaşık bir ürün yapmak değil; küçük bir servisin çevresine test pipeline'ı, container altyapısı, Kubernetes dağıtımı ve izleme sistemi kurmaktır. Bu yüzden proje, şartnamedeki test mühendisliği araçlarını uçtan uca gösterecek şekilde tasarlandı.</a:t>
            </a:r>
            <a:endParaRPr lang="en-US" sz="940" dirty="0"/>
          </a:p>
        </p:txBody>
      </p:sp>
      <p:sp>
        <p:nvSpPr>
          <p:cNvPr id="45" name="Text 42"/>
          <p:cNvSpPr/>
          <p:nvPr/>
        </p:nvSpPr>
        <p:spPr>
          <a:xfrm>
            <a:off x="502920" y="6510528"/>
            <a:ext cx="5212080" cy="164592"/>
          </a:xfrm>
          <a:prstGeom prst="rect">
            <a:avLst/>
          </a:prstGeom>
          <a:noFill/>
          <a:ln/>
        </p:spPr>
        <p:txBody>
          <a:bodyPr wrap="square" lIns="0" tIns="0" rIns="0" bIns="0" rtlCol="0" anchor="ctr"/>
          <a:lstStyle/>
          <a:p>
            <a:pPr indent="0" marL="0">
              <a:buNone/>
            </a:pPr>
            <a:r>
              <a:rPr lang="en-US" sz="700" dirty="0">
                <a:solidFill>
                  <a:srgbClr val="708090"/>
                </a:solidFill>
              </a:rPr>
              <a:t>URL Shortener Service | Bulut Mimarilerinde Test Muhendisligi</a:t>
            </a:r>
            <a:endParaRPr lang="en-US" sz="700" dirty="0"/>
          </a:p>
        </p:txBody>
      </p:sp>
      <p:sp>
        <p:nvSpPr>
          <p:cNvPr id="46" name="Text 43"/>
          <p:cNvSpPr/>
          <p:nvPr/>
        </p:nvSpPr>
        <p:spPr>
          <a:xfrm>
            <a:off x="9235440" y="6510528"/>
            <a:ext cx="2423160" cy="164592"/>
          </a:xfrm>
          <a:prstGeom prst="rect">
            <a:avLst/>
          </a:prstGeom>
          <a:noFill/>
          <a:ln/>
        </p:spPr>
        <p:txBody>
          <a:bodyPr wrap="square" lIns="0" tIns="0" rIns="0" bIns="0" rtlCol="0" anchor="ctr"/>
          <a:lstStyle/>
          <a:p>
            <a:pPr algn="r" indent="0" marL="0">
              <a:buNone/>
            </a:pPr>
            <a:r>
              <a:rPr lang="en-US" sz="700" dirty="0">
                <a:solidFill>
                  <a:srgbClr val="708090"/>
                </a:solidFill>
              </a:rPr>
              <a:t>Talha Ergelen | Osman Cingoz</a:t>
            </a:r>
            <a:endParaRPr lang="en-US" sz="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563EB"/>
          </a:solidFill>
          <a:ln w="12700">
            <a:solidFill>
              <a:srgbClr val="2563EB"/>
            </a:solidFill>
            <a:prstDash val="solid"/>
          </a:ln>
        </p:spPr>
      </p:sp>
      <p:sp>
        <p:nvSpPr>
          <p:cNvPr id="3" name="Text 1"/>
          <p:cNvSpPr/>
          <p:nvPr/>
        </p:nvSpPr>
        <p:spPr>
          <a:xfrm>
            <a:off x="502920" y="320040"/>
            <a:ext cx="4114800" cy="201168"/>
          </a:xfrm>
          <a:prstGeom prst="rect">
            <a:avLst/>
          </a:prstGeom>
          <a:noFill/>
          <a:ln/>
        </p:spPr>
        <p:txBody>
          <a:bodyPr wrap="square" lIns="0" tIns="0" rIns="0" bIns="0" rtlCol="0" anchor="ctr">
            <a:normAutofit/>
          </a:bodyPr>
          <a:lstStyle/>
          <a:p>
            <a:pPr indent="0" marL="0">
              <a:buNone/>
            </a:pPr>
            <a:r>
              <a:rPr lang="en-US" sz="850" b="1" dirty="0">
                <a:solidFill>
                  <a:srgbClr val="2563EB"/>
                </a:solidFill>
                <a:latin typeface="Aptos" pitchFamily="34" charset="0"/>
                <a:ea typeface="Aptos" pitchFamily="34" charset="-122"/>
                <a:cs typeface="Aptos" pitchFamily="34" charset="-120"/>
              </a:rPr>
              <a:t>2. MIMARI DIYAGRAM</a:t>
            </a:r>
            <a:endParaRPr lang="en-US" sz="850" dirty="0"/>
          </a:p>
        </p:txBody>
      </p:sp>
      <p:sp>
        <p:nvSpPr>
          <p:cNvPr id="4" name="Text 2"/>
          <p:cNvSpPr/>
          <p:nvPr/>
        </p:nvSpPr>
        <p:spPr>
          <a:xfrm>
            <a:off x="502920" y="566928"/>
            <a:ext cx="8138160" cy="475488"/>
          </a:xfrm>
          <a:prstGeom prst="rect">
            <a:avLst/>
          </a:prstGeom>
          <a:noFill/>
          <a:ln/>
        </p:spPr>
        <p:txBody>
          <a:bodyPr wrap="square" lIns="0" tIns="0" rIns="0" bIns="0" rtlCol="0" anchor="ctr">
            <a:normAutofit/>
          </a:bodyPr>
          <a:lstStyle/>
          <a:p>
            <a:pPr indent="0" marL="0">
              <a:buNone/>
            </a:pPr>
            <a:r>
              <a:rPr lang="en-US" sz="2500" b="1" dirty="0">
                <a:solidFill>
                  <a:srgbClr val="102033"/>
                </a:solidFill>
                <a:latin typeface="Aptos Display" pitchFamily="34" charset="0"/>
                <a:ea typeface="Aptos Display" pitchFamily="34" charset="-122"/>
                <a:cs typeface="Aptos Display" pitchFamily="34" charset="-120"/>
              </a:rPr>
              <a:t>Tek servis etrafinda bulut-native test mimarisi</a:t>
            </a:r>
            <a:endParaRPr lang="en-US" sz="2500" dirty="0"/>
          </a:p>
        </p:txBody>
      </p:sp>
      <p:sp>
        <p:nvSpPr>
          <p:cNvPr id="5" name="Text 3"/>
          <p:cNvSpPr/>
          <p:nvPr/>
        </p:nvSpPr>
        <p:spPr>
          <a:xfrm>
            <a:off x="11292840" y="384048"/>
            <a:ext cx="384048" cy="228600"/>
          </a:xfrm>
          <a:prstGeom prst="rect">
            <a:avLst/>
          </a:prstGeom>
          <a:solidFill>
            <a:srgbClr val="0F172A"/>
          </a:solidFill>
          <a:ln>
            <a:solidFill>
              <a:srgbClr val="0F172A"/>
            </a:solidFill>
          </a:ln>
        </p:spPr>
        <p:txBody>
          <a:bodyPr wrap="square" lIns="0" tIns="0" rIns="0" bIns="0" rtlCol="0" anchor="ctr"/>
          <a:lstStyle/>
          <a:p>
            <a:pPr algn="ctr" indent="0" marL="0">
              <a:buNone/>
            </a:pPr>
            <a:r>
              <a:rPr lang="en-US" sz="800" b="1" dirty="0">
                <a:solidFill>
                  <a:srgbClr val="FFFFFF"/>
                </a:solidFill>
                <a:latin typeface="Aptos" pitchFamily="34" charset="0"/>
                <a:ea typeface="Aptos" pitchFamily="34" charset="-122"/>
                <a:cs typeface="Aptos" pitchFamily="34" charset="-120"/>
              </a:rPr>
              <a:t>02</a:t>
            </a:r>
            <a:endParaRPr lang="en-US" sz="800" dirty="0"/>
          </a:p>
        </p:txBody>
      </p:sp>
      <p:sp>
        <p:nvSpPr>
          <p:cNvPr id="6" name="Shape 4"/>
          <p:cNvSpPr/>
          <p:nvPr/>
        </p:nvSpPr>
        <p:spPr>
          <a:xfrm>
            <a:off x="502920" y="1207008"/>
            <a:ext cx="6629400" cy="5074920"/>
          </a:xfrm>
          <a:prstGeom prst="roundRect">
            <a:avLst>
              <a:gd name="adj" fmla="val 1441"/>
            </a:avLst>
          </a:prstGeom>
          <a:solidFill>
            <a:srgbClr val="FFFFFF"/>
          </a:solidFill>
          <a:ln w="12700">
            <a:solidFill>
              <a:srgbClr val="D9E2EC"/>
            </a:solidFill>
            <a:prstDash val="solid"/>
          </a:ln>
          <a:effectLst>
            <a:outerShdw sx="100000" sy="100000" kx="0" ky="0" algn="bl" rotWithShape="0" blurRad="12700" dist="50800" dir="2700000">
              <a:srgbClr val="CBD5E1">
                <a:alpha val="22000"/>
              </a:srgbClr>
            </a:outerShdw>
          </a:effectLst>
        </p:spPr>
      </p:sp>
      <p:pic>
        <p:nvPicPr>
          <p:cNvPr id="7" name="Image 0" descr="/Users/osmancingoz/Desktop/bulut/bmtm-url_shortener_service/docs/architecture.png">    </p:cNvPr>
          <p:cNvPicPr>
            <a:picLocks noChangeAspect="1"/>
          </p:cNvPicPr>
          <p:nvPr/>
        </p:nvPicPr>
        <p:blipFill>
          <a:blip r:embed="rId1"/>
          <a:stretch>
            <a:fillRect/>
          </a:stretch>
        </p:blipFill>
        <p:spPr>
          <a:xfrm>
            <a:off x="713232" y="1444752"/>
            <a:ext cx="6208776" cy="4553712"/>
          </a:xfrm>
          <a:prstGeom prst="rect">
            <a:avLst/>
          </a:prstGeom>
        </p:spPr>
      </p:pic>
      <p:sp>
        <p:nvSpPr>
          <p:cNvPr id="8" name="Shape 5"/>
          <p:cNvSpPr/>
          <p:nvPr/>
        </p:nvSpPr>
        <p:spPr>
          <a:xfrm>
            <a:off x="7406640" y="1207008"/>
            <a:ext cx="4297680" cy="5074920"/>
          </a:xfrm>
          <a:prstGeom prst="roundRect">
            <a:avLst>
              <a:gd name="adj" fmla="val 1702"/>
            </a:avLst>
          </a:prstGeom>
          <a:solidFill>
            <a:srgbClr val="FFFFFF"/>
          </a:solidFill>
          <a:ln w="12700">
            <a:solidFill>
              <a:srgbClr val="D9E2EC"/>
            </a:solidFill>
            <a:prstDash val="solid"/>
          </a:ln>
          <a:effectLst>
            <a:outerShdw sx="100000" sy="100000" kx="0" ky="0" algn="bl" rotWithShape="0" blurRad="12700" dist="50800" dir="2700000">
              <a:srgbClr val="CBD5E1">
                <a:alpha val="22000"/>
              </a:srgbClr>
            </a:outerShdw>
          </a:effectLst>
        </p:spPr>
      </p:sp>
      <p:sp>
        <p:nvSpPr>
          <p:cNvPr id="9" name="Text 6"/>
          <p:cNvSpPr/>
          <p:nvPr/>
        </p:nvSpPr>
        <p:spPr>
          <a:xfrm>
            <a:off x="7726680" y="1536192"/>
            <a:ext cx="1463040" cy="182880"/>
          </a:xfrm>
          <a:prstGeom prst="rect">
            <a:avLst/>
          </a:prstGeom>
          <a:noFill/>
          <a:ln/>
        </p:spPr>
        <p:txBody>
          <a:bodyPr wrap="square" lIns="0" tIns="0" rIns="0" bIns="0" rtlCol="0" anchor="ctr">
            <a:normAutofit/>
          </a:bodyPr>
          <a:lstStyle/>
          <a:p>
            <a:pPr indent="0" marL="0">
              <a:buNone/>
            </a:pPr>
            <a:r>
              <a:rPr lang="en-US" sz="750" b="1" dirty="0">
                <a:solidFill>
                  <a:srgbClr val="2563EB"/>
                </a:solidFill>
              </a:rPr>
              <a:t>BILESENLER</a:t>
            </a:r>
            <a:endParaRPr lang="en-US" sz="750" dirty="0"/>
          </a:p>
        </p:txBody>
      </p:sp>
      <p:sp>
        <p:nvSpPr>
          <p:cNvPr id="10" name="Text 7"/>
          <p:cNvSpPr/>
          <p:nvPr/>
        </p:nvSpPr>
        <p:spPr>
          <a:xfrm>
            <a:off x="7726680" y="1874520"/>
            <a:ext cx="3474720" cy="2148840"/>
          </a:xfrm>
          <a:prstGeom prst="rect">
            <a:avLst/>
          </a:prstGeom>
          <a:noFill/>
          <a:ln/>
        </p:spPr>
        <p:txBody>
          <a:bodyPr wrap="square" lIns="508" tIns="508" rIns="508" bIns="508" rtlCol="0" anchor="t">
            <a:normAutofit/>
          </a:bodyPr>
          <a:lstStyle/>
          <a:p>
            <a:pPr indent="0" marL="0">
              <a:buNone/>
            </a:pPr>
            <a:r>
              <a:rPr lang="en-US" sz="1120" dirty="0">
                <a:solidFill>
                  <a:srgbClr val="102033"/>
                </a:solidFill>
                <a:latin typeface="Aptos" pitchFamily="34" charset="0"/>
                <a:ea typeface="Aptos" pitchFamily="34" charset="-122"/>
                <a:cs typeface="Aptos" pitchFamily="34" charset="-120"/>
              </a:rPr>
              <a:t>FastAPI: 8 REST endpoint</a:t>
            </a:r>
            <a:endParaRPr lang="en-US" sz="1120" dirty="0"/>
          </a:p>
          <a:p>
            <a:pPr indent="0" marL="0">
              <a:buNone/>
            </a:pPr>
            <a:r>
              <a:rPr lang="en-US" sz="1120" dirty="0">
                <a:solidFill>
                  <a:srgbClr val="102033"/>
                </a:solidFill>
                <a:latin typeface="Aptos" pitchFamily="34" charset="0"/>
                <a:ea typeface="Aptos" pitchFamily="34" charset="-122"/>
                <a:cs typeface="Aptos" pitchFamily="34" charset="-120"/>
              </a:rPr>
              <a:t>SQLAlchemy: URL + Click tabloları</a:t>
            </a:r>
            <a:endParaRPr lang="en-US" sz="1120" dirty="0"/>
          </a:p>
          <a:p>
            <a:pPr indent="0" marL="0">
              <a:buNone/>
            </a:pPr>
            <a:r>
              <a:rPr lang="en-US" sz="1120" dirty="0">
                <a:solidFill>
                  <a:srgbClr val="102033"/>
                </a:solidFill>
                <a:latin typeface="Aptos" pitchFamily="34" charset="0"/>
                <a:ea typeface="Aptos" pitchFamily="34" charset="-122"/>
                <a:cs typeface="Aptos" pitchFamily="34" charset="-120"/>
              </a:rPr>
              <a:t>LocalStack S3: JSON istatistik yedegi</a:t>
            </a:r>
            <a:endParaRPr lang="en-US" sz="1120" dirty="0"/>
          </a:p>
          <a:p>
            <a:pPr indent="0" marL="0">
              <a:buNone/>
            </a:pPr>
            <a:r>
              <a:rPr lang="en-US" sz="1120" dirty="0">
                <a:solidFill>
                  <a:srgbClr val="102033"/>
                </a:solidFill>
                <a:latin typeface="Aptos" pitchFamily="34" charset="0"/>
                <a:ea typeface="Aptos" pitchFamily="34" charset="-122"/>
                <a:cs typeface="Aptos" pitchFamily="34" charset="-120"/>
              </a:rPr>
              <a:t>Prometheus/Grafana: metrik ve dashboard</a:t>
            </a:r>
            <a:endParaRPr lang="en-US" sz="1120" dirty="0"/>
          </a:p>
          <a:p>
            <a:pPr indent="0" marL="0">
              <a:buNone/>
            </a:pPr>
            <a:r>
              <a:rPr lang="en-US" sz="1120" dirty="0">
                <a:solidFill>
                  <a:srgbClr val="102033"/>
                </a:solidFill>
                <a:latin typeface="Aptos" pitchFamily="34" charset="0"/>
                <a:ea typeface="Aptos" pitchFamily="34" charset="-122"/>
                <a:cs typeface="Aptos" pitchFamily="34" charset="-120"/>
              </a:rPr>
              <a:t>Jaeger: OpenTelemetry trace</a:t>
            </a:r>
            <a:endParaRPr lang="en-US" sz="1120" dirty="0"/>
          </a:p>
          <a:p>
            <a:pPr indent="0" marL="0">
              <a:buNone/>
            </a:pPr>
            <a:r>
              <a:rPr lang="en-US" sz="1120" dirty="0">
                <a:solidFill>
                  <a:srgbClr val="102033"/>
                </a:solidFill>
                <a:latin typeface="Aptos" pitchFamily="34" charset="0"/>
                <a:ea typeface="Aptos" pitchFamily="34" charset="-122"/>
                <a:cs typeface="Aptos" pitchFamily="34" charset="-120"/>
              </a:rPr>
              <a:t>Kubernetes: 2 replika + probes</a:t>
            </a:r>
            <a:endParaRPr lang="en-US" sz="1120" dirty="0"/>
          </a:p>
        </p:txBody>
      </p:sp>
      <p:sp>
        <p:nvSpPr>
          <p:cNvPr id="11" name="Text 8"/>
          <p:cNvSpPr/>
          <p:nvPr/>
        </p:nvSpPr>
        <p:spPr>
          <a:xfrm>
            <a:off x="7726680" y="4251960"/>
            <a:ext cx="1737360" cy="182880"/>
          </a:xfrm>
          <a:prstGeom prst="rect">
            <a:avLst/>
          </a:prstGeom>
          <a:noFill/>
          <a:ln/>
        </p:spPr>
        <p:txBody>
          <a:bodyPr wrap="square" lIns="0" tIns="0" rIns="0" bIns="0" rtlCol="0" anchor="ctr">
            <a:normAutofit/>
          </a:bodyPr>
          <a:lstStyle/>
          <a:p>
            <a:pPr indent="0" marL="0">
              <a:buNone/>
            </a:pPr>
            <a:r>
              <a:rPr lang="en-US" sz="750" b="1" dirty="0">
                <a:solidFill>
                  <a:srgbClr val="059669"/>
                </a:solidFill>
              </a:rPr>
              <a:t>SUNUM MESAJI</a:t>
            </a:r>
            <a:endParaRPr lang="en-US" sz="750" dirty="0"/>
          </a:p>
        </p:txBody>
      </p:sp>
      <p:sp>
        <p:nvSpPr>
          <p:cNvPr id="12" name="Text 9"/>
          <p:cNvSpPr/>
          <p:nvPr/>
        </p:nvSpPr>
        <p:spPr>
          <a:xfrm>
            <a:off x="7726680" y="4526280"/>
            <a:ext cx="3429000" cy="685800"/>
          </a:xfrm>
          <a:prstGeom prst="rect">
            <a:avLst/>
          </a:prstGeom>
          <a:noFill/>
          <a:ln/>
        </p:spPr>
        <p:txBody>
          <a:bodyPr wrap="square" lIns="508" tIns="508" rIns="508" bIns="508" rtlCol="0" anchor="t">
            <a:normAutofit/>
          </a:bodyPr>
          <a:lstStyle/>
          <a:p>
            <a:pPr indent="0" marL="0">
              <a:buNone/>
            </a:pPr>
            <a:r>
              <a:rPr lang="en-US" sz="1300" b="1" dirty="0">
                <a:solidFill>
                  <a:srgbClr val="102033"/>
                </a:solidFill>
                <a:latin typeface="Aptos" pitchFamily="34" charset="0"/>
                <a:ea typeface="Aptos" pitchFamily="34" charset="-122"/>
                <a:cs typeface="Aptos" pitchFamily="34" charset="-120"/>
              </a:rPr>
              <a:t>Her katman test edilebilir ve CI/CD tarafinda otomatik dogrulanabilir sekilde ayrildi.</a:t>
            </a:r>
            <a:endParaRPr lang="en-US" sz="1300" dirty="0"/>
          </a:p>
        </p:txBody>
      </p:sp>
      <p:sp>
        <p:nvSpPr>
          <p:cNvPr id="13" name="Shape 10"/>
          <p:cNvSpPr/>
          <p:nvPr/>
        </p:nvSpPr>
        <p:spPr>
          <a:xfrm>
            <a:off x="685800" y="5513832"/>
            <a:ext cx="10561320" cy="768096"/>
          </a:xfrm>
          <a:prstGeom prst="roundRect">
            <a:avLst>
              <a:gd name="adj" fmla="val 5952"/>
            </a:avLst>
          </a:prstGeom>
          <a:solidFill>
            <a:srgbClr val="FFFFFF"/>
          </a:solidFill>
          <a:ln w="13970">
            <a:solidFill>
              <a:srgbClr val="059669">
                <a:alpha val="82000"/>
              </a:srgbClr>
            </a:solidFill>
            <a:prstDash val="solid"/>
          </a:ln>
          <a:effectLst>
            <a:outerShdw sx="100000" sy="100000" kx="0" ky="0" algn="bl" rotWithShape="0" blurRad="12700" dist="50800" dir="2700000">
              <a:srgbClr val="CBD5E1">
                <a:alpha val="18000"/>
              </a:srgbClr>
            </a:outerShdw>
          </a:effectLst>
        </p:spPr>
      </p:sp>
      <p:sp>
        <p:nvSpPr>
          <p:cNvPr id="14" name="Shape 11"/>
          <p:cNvSpPr/>
          <p:nvPr/>
        </p:nvSpPr>
        <p:spPr>
          <a:xfrm>
            <a:off x="685800" y="5513832"/>
            <a:ext cx="73152" cy="768096"/>
          </a:xfrm>
          <a:prstGeom prst="rect">
            <a:avLst/>
          </a:prstGeom>
          <a:solidFill>
            <a:srgbClr val="059669"/>
          </a:solidFill>
          <a:ln w="12700">
            <a:solidFill>
              <a:srgbClr val="059669"/>
            </a:solidFill>
            <a:prstDash val="solid"/>
          </a:ln>
        </p:spPr>
      </p:sp>
      <p:sp>
        <p:nvSpPr>
          <p:cNvPr id="15" name="Text 12"/>
          <p:cNvSpPr/>
          <p:nvPr/>
        </p:nvSpPr>
        <p:spPr>
          <a:xfrm>
            <a:off x="886968" y="5641848"/>
            <a:ext cx="10177272" cy="146304"/>
          </a:xfrm>
          <a:prstGeom prst="rect">
            <a:avLst/>
          </a:prstGeom>
          <a:noFill/>
          <a:ln/>
        </p:spPr>
        <p:txBody>
          <a:bodyPr wrap="square" lIns="0" tIns="0" rIns="0" bIns="0" rtlCol="0" anchor="ctr">
            <a:normAutofit/>
          </a:bodyPr>
          <a:lstStyle/>
          <a:p>
            <a:pPr indent="0" marL="0">
              <a:buNone/>
            </a:pPr>
            <a:r>
              <a:rPr lang="en-US" sz="750" b="1" dirty="0">
                <a:solidFill>
                  <a:srgbClr val="059669"/>
                </a:solidFill>
              </a:rPr>
              <a:t>MIMARIYI ANLAT</a:t>
            </a:r>
            <a:endParaRPr lang="en-US" sz="750" dirty="0"/>
          </a:p>
        </p:txBody>
      </p:sp>
      <p:sp>
        <p:nvSpPr>
          <p:cNvPr id="16" name="Text 13"/>
          <p:cNvSpPr/>
          <p:nvPr/>
        </p:nvSpPr>
        <p:spPr>
          <a:xfrm>
            <a:off x="886968" y="5870448"/>
            <a:ext cx="10177272" cy="292608"/>
          </a:xfrm>
          <a:prstGeom prst="rect">
            <a:avLst/>
          </a:prstGeom>
          <a:noFill/>
          <a:ln/>
        </p:spPr>
        <p:txBody>
          <a:bodyPr wrap="square" lIns="254" tIns="254" rIns="254" bIns="254" rtlCol="0" anchor="t">
            <a:normAutofit/>
          </a:bodyPr>
          <a:lstStyle/>
          <a:p>
            <a:pPr indent="0" marL="0">
              <a:buNone/>
            </a:pPr>
            <a:r>
              <a:rPr lang="en-US" sz="940" dirty="0">
                <a:solidFill>
                  <a:srgbClr val="102033"/>
                </a:solidFill>
              </a:rPr>
              <a:t>Kullanıcı istekleri tarayıcı, Swagger, Postman veya otomatik testlerden FastAPI servisine gelir. FastAPI uygulaması iş mantığını CRUD katmanına aktarır; veriler URL ve Click tablolarında saklanır. Prometheus /metrics endpoint'ini okuyarak metrik toplar, Grafana bunları panel haline getirir. Kubernetes tarafında uygulama iki replika ve health probe'larla çalışacak şekilde hazırlanmıştır.</a:t>
            </a:r>
            <a:endParaRPr lang="en-US" sz="940" dirty="0"/>
          </a:p>
        </p:txBody>
      </p:sp>
      <p:sp>
        <p:nvSpPr>
          <p:cNvPr id="18" name="Text 14"/>
          <p:cNvSpPr/>
          <p:nvPr/>
        </p:nvSpPr>
        <p:spPr>
          <a:xfrm>
            <a:off x="502920" y="6510528"/>
            <a:ext cx="5212080" cy="164592"/>
          </a:xfrm>
          <a:prstGeom prst="rect">
            <a:avLst/>
          </a:prstGeom>
          <a:noFill/>
          <a:ln/>
        </p:spPr>
        <p:txBody>
          <a:bodyPr wrap="square" lIns="0" tIns="0" rIns="0" bIns="0" rtlCol="0" anchor="ctr"/>
          <a:lstStyle/>
          <a:p>
            <a:pPr indent="0" marL="0">
              <a:buNone/>
            </a:pPr>
            <a:r>
              <a:rPr lang="en-US" sz="700" dirty="0">
                <a:solidFill>
                  <a:srgbClr val="708090"/>
                </a:solidFill>
              </a:rPr>
              <a:t>URL Shortener Service | Bulut Mimarilerinde Test Muhendisligi</a:t>
            </a:r>
            <a:endParaRPr lang="en-US" sz="700" dirty="0"/>
          </a:p>
        </p:txBody>
      </p:sp>
      <p:sp>
        <p:nvSpPr>
          <p:cNvPr id="19" name="Text 15"/>
          <p:cNvSpPr/>
          <p:nvPr/>
        </p:nvSpPr>
        <p:spPr>
          <a:xfrm>
            <a:off x="9235440" y="6510528"/>
            <a:ext cx="2423160" cy="164592"/>
          </a:xfrm>
          <a:prstGeom prst="rect">
            <a:avLst/>
          </a:prstGeom>
          <a:noFill/>
          <a:ln/>
        </p:spPr>
        <p:txBody>
          <a:bodyPr wrap="square" lIns="0" tIns="0" rIns="0" bIns="0" rtlCol="0" anchor="ctr"/>
          <a:lstStyle/>
          <a:p>
            <a:pPr algn="r" indent="0" marL="0">
              <a:buNone/>
            </a:pPr>
            <a:r>
              <a:rPr lang="en-US" sz="700" dirty="0">
                <a:solidFill>
                  <a:srgbClr val="708090"/>
                </a:solidFill>
              </a:rPr>
              <a:t>Talha Ergelen | Osman Cingoz</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563EB"/>
          </a:solidFill>
          <a:ln w="12700">
            <a:solidFill>
              <a:srgbClr val="2563EB"/>
            </a:solidFill>
            <a:prstDash val="solid"/>
          </a:ln>
        </p:spPr>
      </p:sp>
      <p:sp>
        <p:nvSpPr>
          <p:cNvPr id="3" name="Text 1"/>
          <p:cNvSpPr/>
          <p:nvPr/>
        </p:nvSpPr>
        <p:spPr>
          <a:xfrm>
            <a:off x="502920" y="320040"/>
            <a:ext cx="4114800" cy="201168"/>
          </a:xfrm>
          <a:prstGeom prst="rect">
            <a:avLst/>
          </a:prstGeom>
          <a:noFill/>
          <a:ln/>
        </p:spPr>
        <p:txBody>
          <a:bodyPr wrap="square" lIns="0" tIns="0" rIns="0" bIns="0" rtlCol="0" anchor="ctr">
            <a:normAutofit/>
          </a:bodyPr>
          <a:lstStyle/>
          <a:p>
            <a:pPr indent="0" marL="0">
              <a:buNone/>
            </a:pPr>
            <a:r>
              <a:rPr lang="en-US" sz="850" b="1" dirty="0">
                <a:solidFill>
                  <a:srgbClr val="2563EB"/>
                </a:solidFill>
                <a:latin typeface="Aptos" pitchFamily="34" charset="0"/>
                <a:ea typeface="Aptos" pitchFamily="34" charset="-122"/>
                <a:cs typeface="Aptos" pitchFamily="34" charset="-120"/>
              </a:rPr>
              <a:t>3. TEST STRATEJISI</a:t>
            </a:r>
            <a:endParaRPr lang="en-US" sz="850" dirty="0"/>
          </a:p>
        </p:txBody>
      </p:sp>
      <p:sp>
        <p:nvSpPr>
          <p:cNvPr id="4" name="Text 2"/>
          <p:cNvSpPr/>
          <p:nvPr/>
        </p:nvSpPr>
        <p:spPr>
          <a:xfrm>
            <a:off x="502920" y="566928"/>
            <a:ext cx="8138160" cy="475488"/>
          </a:xfrm>
          <a:prstGeom prst="rect">
            <a:avLst/>
          </a:prstGeom>
          <a:noFill/>
          <a:ln/>
        </p:spPr>
        <p:txBody>
          <a:bodyPr wrap="square" lIns="0" tIns="0" rIns="0" bIns="0" rtlCol="0" anchor="ctr">
            <a:normAutofit/>
          </a:bodyPr>
          <a:lstStyle/>
          <a:p>
            <a:pPr indent="0" marL="0">
              <a:buNone/>
            </a:pPr>
            <a:r>
              <a:rPr lang="en-US" sz="2500" b="1" dirty="0">
                <a:solidFill>
                  <a:srgbClr val="102033"/>
                </a:solidFill>
                <a:latin typeface="Aptos Display" pitchFamily="34" charset="0"/>
                <a:ea typeface="Aptos Display" pitchFamily="34" charset="-122"/>
                <a:cs typeface="Aptos Display" pitchFamily="34" charset="-120"/>
              </a:rPr>
              <a:t>Test piramidi: hizli unit tabani, gercek kullanici tepesi</a:t>
            </a:r>
            <a:endParaRPr lang="en-US" sz="2500" dirty="0"/>
          </a:p>
        </p:txBody>
      </p:sp>
      <p:sp>
        <p:nvSpPr>
          <p:cNvPr id="5" name="Text 3"/>
          <p:cNvSpPr/>
          <p:nvPr/>
        </p:nvSpPr>
        <p:spPr>
          <a:xfrm>
            <a:off x="11292840" y="384048"/>
            <a:ext cx="384048" cy="228600"/>
          </a:xfrm>
          <a:prstGeom prst="rect">
            <a:avLst/>
          </a:prstGeom>
          <a:solidFill>
            <a:srgbClr val="0F172A"/>
          </a:solidFill>
          <a:ln>
            <a:solidFill>
              <a:srgbClr val="0F172A"/>
            </a:solidFill>
          </a:ln>
        </p:spPr>
        <p:txBody>
          <a:bodyPr wrap="square" lIns="0" tIns="0" rIns="0" bIns="0" rtlCol="0" anchor="ctr"/>
          <a:lstStyle/>
          <a:p>
            <a:pPr algn="ctr" indent="0" marL="0">
              <a:buNone/>
            </a:pPr>
            <a:r>
              <a:rPr lang="en-US" sz="800" b="1" dirty="0">
                <a:solidFill>
                  <a:srgbClr val="FFFFFF"/>
                </a:solidFill>
                <a:latin typeface="Aptos" pitchFamily="34" charset="0"/>
                <a:ea typeface="Aptos" pitchFamily="34" charset="-122"/>
                <a:cs typeface="Aptos" pitchFamily="34" charset="-120"/>
              </a:rPr>
              <a:t>03</a:t>
            </a:r>
            <a:endParaRPr lang="en-US" sz="800" dirty="0"/>
          </a:p>
        </p:txBody>
      </p:sp>
      <p:sp>
        <p:nvSpPr>
          <p:cNvPr id="6" name="Shape 4"/>
          <p:cNvSpPr/>
          <p:nvPr/>
        </p:nvSpPr>
        <p:spPr>
          <a:xfrm>
            <a:off x="2011680" y="1417320"/>
            <a:ext cx="1828800" cy="530352"/>
          </a:xfrm>
          <a:prstGeom prst="trapezoid">
            <a:avLst/>
          </a:prstGeom>
          <a:solidFill>
            <a:srgbClr val="6D28D9">
              <a:alpha val="95000"/>
            </a:srgbClr>
          </a:solidFill>
          <a:ln w="12700">
            <a:solidFill>
              <a:srgbClr val="FFFFFF"/>
            </a:solidFill>
            <a:prstDash val="solid"/>
          </a:ln>
        </p:spPr>
      </p:sp>
      <p:sp>
        <p:nvSpPr>
          <p:cNvPr id="7" name="Text 5"/>
          <p:cNvSpPr/>
          <p:nvPr/>
        </p:nvSpPr>
        <p:spPr>
          <a:xfrm>
            <a:off x="2103120" y="1527048"/>
            <a:ext cx="164592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rPr>
              <a:t>E2E Playwright</a:t>
            </a:r>
            <a:endParaRPr lang="en-US" sz="1000" dirty="0"/>
          </a:p>
        </p:txBody>
      </p:sp>
      <p:sp>
        <p:nvSpPr>
          <p:cNvPr id="8" name="Text 6"/>
          <p:cNvSpPr/>
          <p:nvPr/>
        </p:nvSpPr>
        <p:spPr>
          <a:xfrm>
            <a:off x="2103120" y="1728216"/>
            <a:ext cx="1645920" cy="109728"/>
          </a:xfrm>
          <a:prstGeom prst="rect">
            <a:avLst/>
          </a:prstGeom>
          <a:noFill/>
          <a:ln/>
        </p:spPr>
        <p:txBody>
          <a:bodyPr wrap="square" lIns="0" tIns="0" rIns="0" bIns="0" rtlCol="0" anchor="ctr">
            <a:normAutofit/>
          </a:bodyPr>
          <a:lstStyle/>
          <a:p>
            <a:pPr algn="ctr" indent="0" marL="0">
              <a:buNone/>
            </a:pPr>
            <a:r>
              <a:rPr lang="en-US" sz="750" dirty="0">
                <a:solidFill>
                  <a:srgbClr val="FFFFFF"/>
                </a:solidFill>
              </a:rPr>
              <a:t>5 senaryo</a:t>
            </a:r>
            <a:endParaRPr lang="en-US" sz="750" dirty="0"/>
          </a:p>
        </p:txBody>
      </p:sp>
      <p:sp>
        <p:nvSpPr>
          <p:cNvPr id="9" name="Shape 7"/>
          <p:cNvSpPr/>
          <p:nvPr/>
        </p:nvSpPr>
        <p:spPr>
          <a:xfrm>
            <a:off x="1508760" y="2039112"/>
            <a:ext cx="2834640" cy="530352"/>
          </a:xfrm>
          <a:prstGeom prst="trapezoid">
            <a:avLst/>
          </a:prstGeom>
          <a:solidFill>
            <a:srgbClr val="0891B2">
              <a:alpha val="95000"/>
            </a:srgbClr>
          </a:solidFill>
          <a:ln w="12700">
            <a:solidFill>
              <a:srgbClr val="FFFFFF"/>
            </a:solidFill>
            <a:prstDash val="solid"/>
          </a:ln>
        </p:spPr>
      </p:sp>
      <p:sp>
        <p:nvSpPr>
          <p:cNvPr id="10" name="Text 8"/>
          <p:cNvSpPr/>
          <p:nvPr/>
        </p:nvSpPr>
        <p:spPr>
          <a:xfrm>
            <a:off x="1600200" y="2148840"/>
            <a:ext cx="265176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rPr>
              <a:t>Postman / Newman</a:t>
            </a:r>
            <a:endParaRPr lang="en-US" sz="1000" dirty="0"/>
          </a:p>
        </p:txBody>
      </p:sp>
      <p:sp>
        <p:nvSpPr>
          <p:cNvPr id="11" name="Text 9"/>
          <p:cNvSpPr/>
          <p:nvPr/>
        </p:nvSpPr>
        <p:spPr>
          <a:xfrm>
            <a:off x="1600200" y="2350008"/>
            <a:ext cx="2651760" cy="109728"/>
          </a:xfrm>
          <a:prstGeom prst="rect">
            <a:avLst/>
          </a:prstGeom>
          <a:noFill/>
          <a:ln/>
        </p:spPr>
        <p:txBody>
          <a:bodyPr wrap="square" lIns="0" tIns="0" rIns="0" bIns="0" rtlCol="0" anchor="ctr">
            <a:normAutofit/>
          </a:bodyPr>
          <a:lstStyle/>
          <a:p>
            <a:pPr algn="ctr" indent="0" marL="0">
              <a:buNone/>
            </a:pPr>
            <a:r>
              <a:rPr lang="en-US" sz="750" dirty="0">
                <a:solidFill>
                  <a:srgbClr val="FFFFFF"/>
                </a:solidFill>
              </a:rPr>
              <a:t>8 istek</a:t>
            </a:r>
            <a:endParaRPr lang="en-US" sz="750" dirty="0"/>
          </a:p>
        </p:txBody>
      </p:sp>
      <p:sp>
        <p:nvSpPr>
          <p:cNvPr id="12" name="Shape 10"/>
          <p:cNvSpPr/>
          <p:nvPr/>
        </p:nvSpPr>
        <p:spPr>
          <a:xfrm>
            <a:off x="960120" y="2660904"/>
            <a:ext cx="3931920" cy="530352"/>
          </a:xfrm>
          <a:prstGeom prst="trapezoid">
            <a:avLst/>
          </a:prstGeom>
          <a:solidFill>
            <a:srgbClr val="2563EB">
              <a:alpha val="95000"/>
            </a:srgbClr>
          </a:solidFill>
          <a:ln w="12700">
            <a:solidFill>
              <a:srgbClr val="FFFFFF"/>
            </a:solidFill>
            <a:prstDash val="solid"/>
          </a:ln>
        </p:spPr>
      </p:sp>
      <p:sp>
        <p:nvSpPr>
          <p:cNvPr id="13" name="Text 11"/>
          <p:cNvSpPr/>
          <p:nvPr/>
        </p:nvSpPr>
        <p:spPr>
          <a:xfrm>
            <a:off x="1051560" y="2770632"/>
            <a:ext cx="374904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rPr>
              <a:t>Integration</a:t>
            </a:r>
            <a:endParaRPr lang="en-US" sz="1000" dirty="0"/>
          </a:p>
        </p:txBody>
      </p:sp>
      <p:sp>
        <p:nvSpPr>
          <p:cNvPr id="14" name="Text 12"/>
          <p:cNvSpPr/>
          <p:nvPr/>
        </p:nvSpPr>
        <p:spPr>
          <a:xfrm>
            <a:off x="1051560" y="2971800"/>
            <a:ext cx="3749040" cy="109728"/>
          </a:xfrm>
          <a:prstGeom prst="rect">
            <a:avLst/>
          </a:prstGeom>
          <a:noFill/>
          <a:ln/>
        </p:spPr>
        <p:txBody>
          <a:bodyPr wrap="square" lIns="0" tIns="0" rIns="0" bIns="0" rtlCol="0" anchor="ctr">
            <a:normAutofit/>
          </a:bodyPr>
          <a:lstStyle/>
          <a:p>
            <a:pPr algn="ctr" indent="0" marL="0">
              <a:buNone/>
            </a:pPr>
            <a:r>
              <a:rPr lang="en-US" sz="750" dirty="0">
                <a:solidFill>
                  <a:srgbClr val="FFFFFF"/>
                </a:solidFill>
              </a:rPr>
              <a:t>39 test</a:t>
            </a:r>
            <a:endParaRPr lang="en-US" sz="750" dirty="0"/>
          </a:p>
        </p:txBody>
      </p:sp>
      <p:sp>
        <p:nvSpPr>
          <p:cNvPr id="15" name="Shape 13"/>
          <p:cNvSpPr/>
          <p:nvPr/>
        </p:nvSpPr>
        <p:spPr>
          <a:xfrm>
            <a:off x="388620" y="3282696"/>
            <a:ext cx="5074920" cy="530352"/>
          </a:xfrm>
          <a:prstGeom prst="trapezoid">
            <a:avLst/>
          </a:prstGeom>
          <a:solidFill>
            <a:srgbClr val="059669">
              <a:alpha val="95000"/>
            </a:srgbClr>
          </a:solidFill>
          <a:ln w="12700">
            <a:solidFill>
              <a:srgbClr val="FFFFFF"/>
            </a:solidFill>
            <a:prstDash val="solid"/>
          </a:ln>
        </p:spPr>
      </p:sp>
      <p:sp>
        <p:nvSpPr>
          <p:cNvPr id="16" name="Text 14"/>
          <p:cNvSpPr/>
          <p:nvPr/>
        </p:nvSpPr>
        <p:spPr>
          <a:xfrm>
            <a:off x="480060" y="3392424"/>
            <a:ext cx="4892040" cy="146304"/>
          </a:xfrm>
          <a:prstGeom prst="rect">
            <a:avLst/>
          </a:prstGeom>
          <a:noFill/>
          <a:ln/>
        </p:spPr>
        <p:txBody>
          <a:bodyPr wrap="square" lIns="0" tIns="0" rIns="0" bIns="0" rtlCol="0" anchor="ctr">
            <a:normAutofit/>
          </a:bodyPr>
          <a:lstStyle/>
          <a:p>
            <a:pPr algn="ctr" indent="0" marL="0">
              <a:buNone/>
            </a:pPr>
            <a:r>
              <a:rPr lang="en-US" sz="1000" b="1" dirty="0">
                <a:solidFill>
                  <a:srgbClr val="FFFFFF"/>
                </a:solidFill>
              </a:rPr>
              <a:t>Unit</a:t>
            </a:r>
            <a:endParaRPr lang="en-US" sz="1000" dirty="0"/>
          </a:p>
        </p:txBody>
      </p:sp>
      <p:sp>
        <p:nvSpPr>
          <p:cNvPr id="17" name="Text 15"/>
          <p:cNvSpPr/>
          <p:nvPr/>
        </p:nvSpPr>
        <p:spPr>
          <a:xfrm>
            <a:off x="480060" y="3593592"/>
            <a:ext cx="4892040" cy="109728"/>
          </a:xfrm>
          <a:prstGeom prst="rect">
            <a:avLst/>
          </a:prstGeom>
          <a:noFill/>
          <a:ln/>
        </p:spPr>
        <p:txBody>
          <a:bodyPr wrap="square" lIns="0" tIns="0" rIns="0" bIns="0" rtlCol="0" anchor="ctr">
            <a:normAutofit/>
          </a:bodyPr>
          <a:lstStyle/>
          <a:p>
            <a:pPr algn="ctr" indent="0" marL="0">
              <a:buNone/>
            </a:pPr>
            <a:r>
              <a:rPr lang="en-US" sz="750" dirty="0">
                <a:solidFill>
                  <a:srgbClr val="FFFFFF"/>
                </a:solidFill>
              </a:rPr>
              <a:t>42 test</a:t>
            </a:r>
            <a:endParaRPr lang="en-US" sz="750" dirty="0"/>
          </a:p>
        </p:txBody>
      </p:sp>
      <p:sp>
        <p:nvSpPr>
          <p:cNvPr id="18" name="Text 16"/>
          <p:cNvSpPr/>
          <p:nvPr/>
        </p:nvSpPr>
        <p:spPr>
          <a:xfrm>
            <a:off x="777240" y="4343400"/>
            <a:ext cx="4251960" cy="566928"/>
          </a:xfrm>
          <a:prstGeom prst="rect">
            <a:avLst/>
          </a:prstGeom>
          <a:noFill/>
          <a:ln/>
        </p:spPr>
        <p:txBody>
          <a:bodyPr wrap="square" lIns="508" tIns="508" rIns="508" bIns="508" rtlCol="0" anchor="t">
            <a:normAutofit/>
          </a:bodyPr>
          <a:lstStyle/>
          <a:p>
            <a:pPr indent="0" marL="0">
              <a:buNone/>
            </a:pPr>
            <a:r>
              <a:rPr lang="en-US" sz="1800" b="1" dirty="0">
                <a:solidFill>
                  <a:srgbClr val="102033"/>
                </a:solidFill>
                <a:latin typeface="Aptos" pitchFamily="34" charset="0"/>
                <a:ea typeface="Aptos" pitchFamily="34" charset="-122"/>
                <a:cs typeface="Aptos" pitchFamily="34" charset="-120"/>
              </a:rPr>
              <a:t>Coverage hedefi: &gt;= %70</a:t>
            </a:r>
            <a:endParaRPr lang="en-US" sz="1800" dirty="0"/>
          </a:p>
          <a:p>
            <a:pPr indent="0" marL="0">
              <a:buNone/>
            </a:pPr>
            <a:r>
              <a:rPr lang="en-US" sz="1800" b="1" dirty="0">
                <a:solidFill>
                  <a:srgbClr val="102033"/>
                </a:solidFill>
                <a:latin typeface="Aptos" pitchFamily="34" charset="0"/>
                <a:ea typeface="Aptos" pitchFamily="34" charset="-122"/>
                <a:cs typeface="Aptos" pitchFamily="34" charset="-120"/>
              </a:rPr>
              <a:t>Gerceklesen: yaklasik %90</a:t>
            </a:r>
            <a:endParaRPr lang="en-US" sz="1800" dirty="0"/>
          </a:p>
        </p:txBody>
      </p:sp>
      <p:sp>
        <p:nvSpPr>
          <p:cNvPr id="19" name="Shape 17"/>
          <p:cNvSpPr/>
          <p:nvPr/>
        </p:nvSpPr>
        <p:spPr>
          <a:xfrm>
            <a:off x="5715000" y="1389888"/>
            <a:ext cx="1645920" cy="950976"/>
          </a:xfrm>
          <a:prstGeom prst="roundRect">
            <a:avLst>
              <a:gd name="adj" fmla="val 7692"/>
            </a:avLst>
          </a:prstGeom>
          <a:solidFill>
            <a:srgbClr val="FFFFFF"/>
          </a:solidFill>
          <a:ln w="12700">
            <a:solidFill>
              <a:srgbClr val="D9E2EC"/>
            </a:solidFill>
            <a:prstDash val="solid"/>
          </a:ln>
          <a:effectLst>
            <a:outerShdw sx="100000" sy="100000" kx="0" ky="0" algn="bl" rotWithShape="0" blurRad="12700" dist="50800" dir="2700000">
              <a:srgbClr val="CBD5E1">
                <a:alpha val="22000"/>
              </a:srgbClr>
            </a:outerShdw>
          </a:effectLst>
        </p:spPr>
      </p:sp>
      <p:sp>
        <p:nvSpPr>
          <p:cNvPr id="20" name="Text 18"/>
          <p:cNvSpPr/>
          <p:nvPr/>
        </p:nvSpPr>
        <p:spPr>
          <a:xfrm>
            <a:off x="5852160" y="1536192"/>
            <a:ext cx="1371600" cy="320040"/>
          </a:xfrm>
          <a:prstGeom prst="rect">
            <a:avLst/>
          </a:prstGeom>
          <a:noFill/>
          <a:ln/>
        </p:spPr>
        <p:txBody>
          <a:bodyPr wrap="square" lIns="0" tIns="0" rIns="0" bIns="0" rtlCol="0" anchor="ctr">
            <a:normAutofit/>
          </a:bodyPr>
          <a:lstStyle/>
          <a:p>
            <a:pPr indent="0" marL="0">
              <a:buNone/>
            </a:pPr>
            <a:r>
              <a:rPr lang="en-US" sz="2400" b="1" dirty="0">
                <a:solidFill>
                  <a:srgbClr val="2563EB"/>
                </a:solidFill>
              </a:rPr>
              <a:t>87</a:t>
            </a:r>
            <a:endParaRPr lang="en-US" sz="2400" dirty="0"/>
          </a:p>
        </p:txBody>
      </p:sp>
      <p:sp>
        <p:nvSpPr>
          <p:cNvPr id="21" name="Text 19"/>
          <p:cNvSpPr/>
          <p:nvPr/>
        </p:nvSpPr>
        <p:spPr>
          <a:xfrm>
            <a:off x="5861304" y="1956816"/>
            <a:ext cx="1371600" cy="182880"/>
          </a:xfrm>
          <a:prstGeom prst="rect">
            <a:avLst/>
          </a:prstGeom>
          <a:noFill/>
          <a:ln/>
        </p:spPr>
        <p:txBody>
          <a:bodyPr wrap="square" lIns="0" tIns="0" rIns="0" bIns="0" rtlCol="0" anchor="ctr">
            <a:normAutofit/>
          </a:bodyPr>
          <a:lstStyle/>
          <a:p>
            <a:pPr indent="0" marL="0">
              <a:buNone/>
            </a:pPr>
            <a:r>
              <a:rPr lang="en-US" sz="850" dirty="0">
                <a:solidFill>
                  <a:srgbClr val="5B6B7D"/>
                </a:solidFill>
              </a:rPr>
              <a:t>pytest test fonksiyonu</a:t>
            </a:r>
            <a:endParaRPr lang="en-US" sz="850" dirty="0"/>
          </a:p>
        </p:txBody>
      </p:sp>
      <p:sp>
        <p:nvSpPr>
          <p:cNvPr id="22" name="Shape 20"/>
          <p:cNvSpPr/>
          <p:nvPr/>
        </p:nvSpPr>
        <p:spPr>
          <a:xfrm>
            <a:off x="7543800" y="1389888"/>
            <a:ext cx="1645920" cy="950976"/>
          </a:xfrm>
          <a:prstGeom prst="roundRect">
            <a:avLst>
              <a:gd name="adj" fmla="val 7692"/>
            </a:avLst>
          </a:prstGeom>
          <a:solidFill>
            <a:srgbClr val="FFFFFF"/>
          </a:solidFill>
          <a:ln w="12700">
            <a:solidFill>
              <a:srgbClr val="D9E2EC"/>
            </a:solidFill>
            <a:prstDash val="solid"/>
          </a:ln>
          <a:effectLst>
            <a:outerShdw sx="100000" sy="100000" kx="0" ky="0" algn="bl" rotWithShape="0" blurRad="12700" dist="50800" dir="2700000">
              <a:srgbClr val="CBD5E1">
                <a:alpha val="22000"/>
              </a:srgbClr>
            </a:outerShdw>
          </a:effectLst>
        </p:spPr>
      </p:sp>
      <p:sp>
        <p:nvSpPr>
          <p:cNvPr id="23" name="Text 21"/>
          <p:cNvSpPr/>
          <p:nvPr/>
        </p:nvSpPr>
        <p:spPr>
          <a:xfrm>
            <a:off x="7680960" y="1536192"/>
            <a:ext cx="1371600" cy="320040"/>
          </a:xfrm>
          <a:prstGeom prst="rect">
            <a:avLst/>
          </a:prstGeom>
          <a:noFill/>
          <a:ln/>
        </p:spPr>
        <p:txBody>
          <a:bodyPr wrap="square" lIns="0" tIns="0" rIns="0" bIns="0" rtlCol="0" anchor="ctr">
            <a:normAutofit/>
          </a:bodyPr>
          <a:lstStyle/>
          <a:p>
            <a:pPr indent="0" marL="0">
              <a:buNone/>
            </a:pPr>
            <a:r>
              <a:rPr lang="en-US" sz="2400" b="1" dirty="0">
                <a:solidFill>
                  <a:srgbClr val="0891B2"/>
                </a:solidFill>
              </a:rPr>
              <a:t>8</a:t>
            </a:r>
            <a:endParaRPr lang="en-US" sz="2400" dirty="0"/>
          </a:p>
        </p:txBody>
      </p:sp>
      <p:sp>
        <p:nvSpPr>
          <p:cNvPr id="24" name="Text 22"/>
          <p:cNvSpPr/>
          <p:nvPr/>
        </p:nvSpPr>
        <p:spPr>
          <a:xfrm>
            <a:off x="7690104" y="1956816"/>
            <a:ext cx="1371600" cy="182880"/>
          </a:xfrm>
          <a:prstGeom prst="rect">
            <a:avLst/>
          </a:prstGeom>
          <a:noFill/>
          <a:ln/>
        </p:spPr>
        <p:txBody>
          <a:bodyPr wrap="square" lIns="0" tIns="0" rIns="0" bIns="0" rtlCol="0" anchor="ctr">
            <a:normAutofit/>
          </a:bodyPr>
          <a:lstStyle/>
          <a:p>
            <a:pPr indent="0" marL="0">
              <a:buNone/>
            </a:pPr>
            <a:r>
              <a:rPr lang="en-US" sz="850" dirty="0">
                <a:solidFill>
                  <a:srgbClr val="5B6B7D"/>
                </a:solidFill>
              </a:rPr>
              <a:t>Postman istegi</a:t>
            </a:r>
            <a:endParaRPr lang="en-US" sz="850" dirty="0"/>
          </a:p>
        </p:txBody>
      </p:sp>
      <p:sp>
        <p:nvSpPr>
          <p:cNvPr id="25" name="Shape 23"/>
          <p:cNvSpPr/>
          <p:nvPr/>
        </p:nvSpPr>
        <p:spPr>
          <a:xfrm>
            <a:off x="9372600" y="1389888"/>
            <a:ext cx="1645920" cy="950976"/>
          </a:xfrm>
          <a:prstGeom prst="roundRect">
            <a:avLst>
              <a:gd name="adj" fmla="val 7692"/>
            </a:avLst>
          </a:prstGeom>
          <a:solidFill>
            <a:srgbClr val="FFFFFF"/>
          </a:solidFill>
          <a:ln w="12700">
            <a:solidFill>
              <a:srgbClr val="D9E2EC"/>
            </a:solidFill>
            <a:prstDash val="solid"/>
          </a:ln>
          <a:effectLst>
            <a:outerShdw sx="100000" sy="100000" kx="0" ky="0" algn="bl" rotWithShape="0" blurRad="12700" dist="50800" dir="2700000">
              <a:srgbClr val="CBD5E1">
                <a:alpha val="22000"/>
              </a:srgbClr>
            </a:outerShdw>
          </a:effectLst>
        </p:spPr>
      </p:sp>
      <p:sp>
        <p:nvSpPr>
          <p:cNvPr id="26" name="Text 24"/>
          <p:cNvSpPr/>
          <p:nvPr/>
        </p:nvSpPr>
        <p:spPr>
          <a:xfrm>
            <a:off x="9509760" y="1536192"/>
            <a:ext cx="1371600" cy="320040"/>
          </a:xfrm>
          <a:prstGeom prst="rect">
            <a:avLst/>
          </a:prstGeom>
          <a:noFill/>
          <a:ln/>
        </p:spPr>
        <p:txBody>
          <a:bodyPr wrap="square" lIns="0" tIns="0" rIns="0" bIns="0" rtlCol="0" anchor="ctr">
            <a:normAutofit/>
          </a:bodyPr>
          <a:lstStyle/>
          <a:p>
            <a:pPr indent="0" marL="0">
              <a:buNone/>
            </a:pPr>
            <a:r>
              <a:rPr lang="en-US" sz="2400" b="1" dirty="0">
                <a:solidFill>
                  <a:srgbClr val="6D28D9"/>
                </a:solidFill>
              </a:rPr>
              <a:t>5</a:t>
            </a:r>
            <a:endParaRPr lang="en-US" sz="2400" dirty="0"/>
          </a:p>
        </p:txBody>
      </p:sp>
      <p:sp>
        <p:nvSpPr>
          <p:cNvPr id="27" name="Text 25"/>
          <p:cNvSpPr/>
          <p:nvPr/>
        </p:nvSpPr>
        <p:spPr>
          <a:xfrm>
            <a:off x="9518904" y="1956816"/>
            <a:ext cx="1371600" cy="182880"/>
          </a:xfrm>
          <a:prstGeom prst="rect">
            <a:avLst/>
          </a:prstGeom>
          <a:noFill/>
          <a:ln/>
        </p:spPr>
        <p:txBody>
          <a:bodyPr wrap="square" lIns="0" tIns="0" rIns="0" bIns="0" rtlCol="0" anchor="ctr">
            <a:normAutofit/>
          </a:bodyPr>
          <a:lstStyle/>
          <a:p>
            <a:pPr indent="0" marL="0">
              <a:buNone/>
            </a:pPr>
            <a:r>
              <a:rPr lang="en-US" sz="850" dirty="0">
                <a:solidFill>
                  <a:srgbClr val="5B6B7D"/>
                </a:solidFill>
              </a:rPr>
              <a:t>Playwright senaryosu</a:t>
            </a:r>
            <a:endParaRPr lang="en-US" sz="850" dirty="0"/>
          </a:p>
        </p:txBody>
      </p:sp>
      <p:sp>
        <p:nvSpPr>
          <p:cNvPr id="28" name="Shape 26"/>
          <p:cNvSpPr/>
          <p:nvPr/>
        </p:nvSpPr>
        <p:spPr>
          <a:xfrm>
            <a:off x="5715000" y="2743200"/>
            <a:ext cx="5349240" cy="2468880"/>
          </a:xfrm>
          <a:prstGeom prst="roundRect">
            <a:avLst>
              <a:gd name="adj" fmla="val 2963"/>
            </a:avLst>
          </a:prstGeom>
          <a:solidFill>
            <a:srgbClr val="FFFFFF"/>
          </a:solidFill>
          <a:ln w="12700">
            <a:solidFill>
              <a:srgbClr val="D9E2EC"/>
            </a:solidFill>
            <a:prstDash val="solid"/>
          </a:ln>
          <a:effectLst>
            <a:outerShdw sx="100000" sy="100000" kx="0" ky="0" algn="bl" rotWithShape="0" blurRad="12700" dist="50800" dir="2700000">
              <a:srgbClr val="CBD5E1">
                <a:alpha val="22000"/>
              </a:srgbClr>
            </a:outerShdw>
          </a:effectLst>
        </p:spPr>
      </p:sp>
      <p:sp>
        <p:nvSpPr>
          <p:cNvPr id="29" name="Text 27"/>
          <p:cNvSpPr/>
          <p:nvPr/>
        </p:nvSpPr>
        <p:spPr>
          <a:xfrm>
            <a:off x="6035040" y="3054096"/>
            <a:ext cx="2468880" cy="182880"/>
          </a:xfrm>
          <a:prstGeom prst="rect">
            <a:avLst/>
          </a:prstGeom>
          <a:noFill/>
          <a:ln/>
        </p:spPr>
        <p:txBody>
          <a:bodyPr wrap="square" lIns="0" tIns="0" rIns="0" bIns="0" rtlCol="0" anchor="ctr">
            <a:normAutofit/>
          </a:bodyPr>
          <a:lstStyle/>
          <a:p>
            <a:pPr indent="0" marL="0">
              <a:buNone/>
            </a:pPr>
            <a:r>
              <a:rPr lang="en-US" sz="750" b="1" dirty="0">
                <a:solidFill>
                  <a:srgbClr val="2563EB"/>
                </a:solidFill>
              </a:rPr>
              <a:t>NEYI NASIL TEST ETTIK?</a:t>
            </a:r>
            <a:endParaRPr lang="en-US" sz="750" dirty="0"/>
          </a:p>
        </p:txBody>
      </p:sp>
      <p:sp>
        <p:nvSpPr>
          <p:cNvPr id="30" name="Text 28"/>
          <p:cNvSpPr/>
          <p:nvPr/>
        </p:nvSpPr>
        <p:spPr>
          <a:xfrm>
            <a:off x="6035040" y="3401568"/>
            <a:ext cx="4343400" cy="1234440"/>
          </a:xfrm>
          <a:prstGeom prst="rect">
            <a:avLst/>
          </a:prstGeom>
          <a:noFill/>
          <a:ln/>
        </p:spPr>
        <p:txBody>
          <a:bodyPr wrap="square" lIns="508" tIns="508" rIns="508" bIns="508" rtlCol="0" anchor="t">
            <a:normAutofit/>
          </a:bodyPr>
          <a:lstStyle/>
          <a:p>
            <a:pPr indent="0" marL="0">
              <a:buNone/>
            </a:pPr>
            <a:r>
              <a:rPr lang="en-US" sz="1230" dirty="0">
                <a:solidFill>
                  <a:srgbClr val="102033"/>
                </a:solidFill>
                <a:latin typeface="Aptos" pitchFamily="34" charset="0"/>
                <a:ea typeface="Aptos" pitchFamily="34" charset="-122"/>
                <a:cs typeface="Aptos" pitchFamily="34" charset="-120"/>
              </a:rPr>
              <a:t>Unit: shortener algoritmasi ve CRUD fonksiyonlari</a:t>
            </a:r>
            <a:endParaRPr lang="en-US" sz="1230" dirty="0"/>
          </a:p>
          <a:p>
            <a:pPr indent="0" marL="0">
              <a:buNone/>
            </a:pPr>
            <a:r>
              <a:rPr lang="en-US" sz="1230" dirty="0">
                <a:solidFill>
                  <a:srgbClr val="102033"/>
                </a:solidFill>
                <a:latin typeface="Aptos" pitchFamily="34" charset="0"/>
                <a:ea typeface="Aptos" pitchFamily="34" charset="-122"/>
                <a:cs typeface="Aptos" pitchFamily="34" charset="-120"/>
              </a:rPr>
              <a:t>Integration: API -&gt; CRUD -&gt; DB akisi</a:t>
            </a:r>
            <a:endParaRPr lang="en-US" sz="1230" dirty="0"/>
          </a:p>
          <a:p>
            <a:pPr indent="0" marL="0">
              <a:buNone/>
            </a:pPr>
            <a:r>
              <a:rPr lang="en-US" sz="1230" dirty="0">
                <a:solidFill>
                  <a:srgbClr val="102033"/>
                </a:solidFill>
                <a:latin typeface="Aptos" pitchFamily="34" charset="0"/>
                <a:ea typeface="Aptos" pitchFamily="34" charset="-122"/>
                <a:cs typeface="Aptos" pitchFamily="34" charset="-120"/>
              </a:rPr>
              <a:t>Testcontainers: gercek PostgreSQL davranisi</a:t>
            </a:r>
            <a:endParaRPr lang="en-US" sz="1230" dirty="0"/>
          </a:p>
          <a:p>
            <a:pPr indent="0" marL="0">
              <a:buNone/>
            </a:pPr>
            <a:r>
              <a:rPr lang="en-US" sz="1230" dirty="0">
                <a:solidFill>
                  <a:srgbClr val="102033"/>
                </a:solidFill>
                <a:latin typeface="Aptos" pitchFamily="34" charset="0"/>
                <a:ea typeface="Aptos" pitchFamily="34" charset="-122"/>
                <a:cs typeface="Aptos" pitchFamily="34" charset="-120"/>
              </a:rPr>
              <a:t>E2E: tarayicida form, sonuc, liste ve hata akisi</a:t>
            </a:r>
            <a:endParaRPr lang="en-US" sz="1230" dirty="0"/>
          </a:p>
        </p:txBody>
      </p:sp>
      <p:sp>
        <p:nvSpPr>
          <p:cNvPr id="31" name="Shape 29"/>
          <p:cNvSpPr/>
          <p:nvPr/>
        </p:nvSpPr>
        <p:spPr>
          <a:xfrm>
            <a:off x="685800" y="5321808"/>
            <a:ext cx="10378440" cy="987552"/>
          </a:xfrm>
          <a:prstGeom prst="roundRect">
            <a:avLst>
              <a:gd name="adj" fmla="val 4630"/>
            </a:avLst>
          </a:prstGeom>
          <a:solidFill>
            <a:srgbClr val="FFFFFF"/>
          </a:solidFill>
          <a:ln w="13970">
            <a:solidFill>
              <a:srgbClr val="6D28D9">
                <a:alpha val="82000"/>
              </a:srgbClr>
            </a:solidFill>
            <a:prstDash val="solid"/>
          </a:ln>
          <a:effectLst>
            <a:outerShdw sx="100000" sy="100000" kx="0" ky="0" algn="bl" rotWithShape="0" blurRad="12700" dist="50800" dir="2700000">
              <a:srgbClr val="CBD5E1">
                <a:alpha val="18000"/>
              </a:srgbClr>
            </a:outerShdw>
          </a:effectLst>
        </p:spPr>
      </p:sp>
      <p:sp>
        <p:nvSpPr>
          <p:cNvPr id="32" name="Shape 30"/>
          <p:cNvSpPr/>
          <p:nvPr/>
        </p:nvSpPr>
        <p:spPr>
          <a:xfrm>
            <a:off x="685800" y="5321808"/>
            <a:ext cx="73152" cy="987552"/>
          </a:xfrm>
          <a:prstGeom prst="rect">
            <a:avLst/>
          </a:prstGeom>
          <a:solidFill>
            <a:srgbClr val="6D28D9"/>
          </a:solidFill>
          <a:ln w="12700">
            <a:solidFill>
              <a:srgbClr val="6D28D9"/>
            </a:solidFill>
            <a:prstDash val="solid"/>
          </a:ln>
        </p:spPr>
      </p:sp>
      <p:sp>
        <p:nvSpPr>
          <p:cNvPr id="33" name="Text 31"/>
          <p:cNvSpPr/>
          <p:nvPr/>
        </p:nvSpPr>
        <p:spPr>
          <a:xfrm>
            <a:off x="886968" y="5449824"/>
            <a:ext cx="9994392" cy="146304"/>
          </a:xfrm>
          <a:prstGeom prst="rect">
            <a:avLst/>
          </a:prstGeom>
          <a:noFill/>
          <a:ln/>
        </p:spPr>
        <p:txBody>
          <a:bodyPr wrap="square" lIns="0" tIns="0" rIns="0" bIns="0" rtlCol="0" anchor="ctr">
            <a:normAutofit/>
          </a:bodyPr>
          <a:lstStyle/>
          <a:p>
            <a:pPr indent="0" marL="0">
              <a:buNone/>
            </a:pPr>
            <a:r>
              <a:rPr lang="en-US" sz="750" b="1" dirty="0">
                <a:solidFill>
                  <a:srgbClr val="6D28D9"/>
                </a:solidFill>
              </a:rPr>
              <a:t>TEST STRATEJISINI OKU</a:t>
            </a:r>
            <a:endParaRPr lang="en-US" sz="750" dirty="0"/>
          </a:p>
        </p:txBody>
      </p:sp>
      <p:sp>
        <p:nvSpPr>
          <p:cNvPr id="34" name="Text 32"/>
          <p:cNvSpPr/>
          <p:nvPr/>
        </p:nvSpPr>
        <p:spPr>
          <a:xfrm>
            <a:off x="886968" y="5678424"/>
            <a:ext cx="9994392" cy="512064"/>
          </a:xfrm>
          <a:prstGeom prst="rect">
            <a:avLst/>
          </a:prstGeom>
          <a:noFill/>
          <a:ln/>
        </p:spPr>
        <p:txBody>
          <a:bodyPr wrap="square" lIns="254" tIns="254" rIns="254" bIns="254" rtlCol="0" anchor="t">
            <a:normAutofit/>
          </a:bodyPr>
          <a:lstStyle/>
          <a:p>
            <a:pPr indent="0" marL="0">
              <a:buNone/>
            </a:pPr>
            <a:r>
              <a:rPr lang="en-US" sz="940" dirty="0">
                <a:solidFill>
                  <a:srgbClr val="102033"/>
                </a:solidFill>
              </a:rPr>
              <a:t>Test piramidinde en altta hızlı unit testler var; kısa kod üretimi ve CRUD fonksiyonları izole test ediliyor. Orta katmanda API, CRUD ve veritabanı birlikte integration testlerle doğrulanıyor. Testcontainers gerçek PostgreSQL davranışını kontrol ediyor. En üstte Playwright gerçek kullanıcı akışını tarayıcı üzerinden test ediyor. Coverage hedefi %70'ti, proje yaklaşık %90 seviyesine çıktı.</a:t>
            </a:r>
            <a:endParaRPr lang="en-US" sz="940" dirty="0"/>
          </a:p>
        </p:txBody>
      </p:sp>
      <p:sp>
        <p:nvSpPr>
          <p:cNvPr id="36" name="Text 33"/>
          <p:cNvSpPr/>
          <p:nvPr/>
        </p:nvSpPr>
        <p:spPr>
          <a:xfrm>
            <a:off x="502920" y="6510528"/>
            <a:ext cx="5212080" cy="164592"/>
          </a:xfrm>
          <a:prstGeom prst="rect">
            <a:avLst/>
          </a:prstGeom>
          <a:noFill/>
          <a:ln/>
        </p:spPr>
        <p:txBody>
          <a:bodyPr wrap="square" lIns="0" tIns="0" rIns="0" bIns="0" rtlCol="0" anchor="ctr"/>
          <a:lstStyle/>
          <a:p>
            <a:pPr indent="0" marL="0">
              <a:buNone/>
            </a:pPr>
            <a:r>
              <a:rPr lang="en-US" sz="700" dirty="0">
                <a:solidFill>
                  <a:srgbClr val="708090"/>
                </a:solidFill>
              </a:rPr>
              <a:t>URL Shortener Service | Bulut Mimarilerinde Test Muhendisligi</a:t>
            </a:r>
            <a:endParaRPr lang="en-US" sz="700" dirty="0"/>
          </a:p>
        </p:txBody>
      </p:sp>
      <p:sp>
        <p:nvSpPr>
          <p:cNvPr id="37" name="Text 34"/>
          <p:cNvSpPr/>
          <p:nvPr/>
        </p:nvSpPr>
        <p:spPr>
          <a:xfrm>
            <a:off x="9235440" y="6510528"/>
            <a:ext cx="2423160" cy="164592"/>
          </a:xfrm>
          <a:prstGeom prst="rect">
            <a:avLst/>
          </a:prstGeom>
          <a:noFill/>
          <a:ln/>
        </p:spPr>
        <p:txBody>
          <a:bodyPr wrap="square" lIns="0" tIns="0" rIns="0" bIns="0" rtlCol="0" anchor="ctr"/>
          <a:lstStyle/>
          <a:p>
            <a:pPr algn="r" indent="0" marL="0">
              <a:buNone/>
            </a:pPr>
            <a:r>
              <a:rPr lang="en-US" sz="700" dirty="0">
                <a:solidFill>
                  <a:srgbClr val="708090"/>
                </a:solidFill>
              </a:rPr>
              <a:t>Talha Ergelen | Osman Cingoz</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563EB"/>
          </a:solidFill>
          <a:ln w="12700">
            <a:solidFill>
              <a:srgbClr val="2563EB"/>
            </a:solidFill>
            <a:prstDash val="solid"/>
          </a:ln>
        </p:spPr>
      </p:sp>
      <p:sp>
        <p:nvSpPr>
          <p:cNvPr id="3" name="Text 1"/>
          <p:cNvSpPr/>
          <p:nvPr/>
        </p:nvSpPr>
        <p:spPr>
          <a:xfrm>
            <a:off x="502920" y="320040"/>
            <a:ext cx="4114800" cy="201168"/>
          </a:xfrm>
          <a:prstGeom prst="rect">
            <a:avLst/>
          </a:prstGeom>
          <a:noFill/>
          <a:ln/>
        </p:spPr>
        <p:txBody>
          <a:bodyPr wrap="square" lIns="0" tIns="0" rIns="0" bIns="0" rtlCol="0" anchor="ctr">
            <a:normAutofit/>
          </a:bodyPr>
          <a:lstStyle/>
          <a:p>
            <a:pPr indent="0" marL="0">
              <a:buNone/>
            </a:pPr>
            <a:r>
              <a:rPr lang="en-US" sz="850" b="1" dirty="0">
                <a:solidFill>
                  <a:srgbClr val="2563EB"/>
                </a:solidFill>
                <a:latin typeface="Aptos" pitchFamily="34" charset="0"/>
                <a:ea typeface="Aptos" pitchFamily="34" charset="-122"/>
                <a:cs typeface="Aptos" pitchFamily="34" charset="-120"/>
              </a:rPr>
              <a:t>4. CI/CD PIPELINE</a:t>
            </a:r>
            <a:endParaRPr lang="en-US" sz="850" dirty="0"/>
          </a:p>
        </p:txBody>
      </p:sp>
      <p:sp>
        <p:nvSpPr>
          <p:cNvPr id="4" name="Text 2"/>
          <p:cNvSpPr/>
          <p:nvPr/>
        </p:nvSpPr>
        <p:spPr>
          <a:xfrm>
            <a:off x="502920" y="566928"/>
            <a:ext cx="8138160" cy="475488"/>
          </a:xfrm>
          <a:prstGeom prst="rect">
            <a:avLst/>
          </a:prstGeom>
          <a:noFill/>
          <a:ln/>
        </p:spPr>
        <p:txBody>
          <a:bodyPr wrap="square" lIns="0" tIns="0" rIns="0" bIns="0" rtlCol="0" anchor="ctr">
            <a:normAutofit/>
          </a:bodyPr>
          <a:lstStyle/>
          <a:p>
            <a:pPr indent="0" marL="0">
              <a:buNone/>
            </a:pPr>
            <a:r>
              <a:rPr lang="en-US" sz="2500" b="1" dirty="0">
                <a:solidFill>
                  <a:srgbClr val="102033"/>
                </a:solidFill>
                <a:latin typeface="Aptos Display" pitchFamily="34" charset="0"/>
                <a:ea typeface="Aptos Display" pitchFamily="34" charset="-122"/>
                <a:cs typeface="Aptos Display" pitchFamily="34" charset="-120"/>
              </a:rPr>
              <a:t>GitHub Actions: lint'ten smoke test'e otomatik kalite kapilari</a:t>
            </a:r>
            <a:endParaRPr lang="en-US" sz="2500" dirty="0"/>
          </a:p>
        </p:txBody>
      </p:sp>
      <p:sp>
        <p:nvSpPr>
          <p:cNvPr id="5" name="Text 3"/>
          <p:cNvSpPr/>
          <p:nvPr/>
        </p:nvSpPr>
        <p:spPr>
          <a:xfrm>
            <a:off x="11292840" y="384048"/>
            <a:ext cx="384048" cy="228600"/>
          </a:xfrm>
          <a:prstGeom prst="rect">
            <a:avLst/>
          </a:prstGeom>
          <a:solidFill>
            <a:srgbClr val="0F172A"/>
          </a:solidFill>
          <a:ln>
            <a:solidFill>
              <a:srgbClr val="0F172A"/>
            </a:solidFill>
          </a:ln>
        </p:spPr>
        <p:txBody>
          <a:bodyPr wrap="square" lIns="0" tIns="0" rIns="0" bIns="0" rtlCol="0" anchor="ctr"/>
          <a:lstStyle/>
          <a:p>
            <a:pPr algn="ctr" indent="0" marL="0">
              <a:buNone/>
            </a:pPr>
            <a:r>
              <a:rPr lang="en-US" sz="800" b="1" dirty="0">
                <a:solidFill>
                  <a:srgbClr val="FFFFFF"/>
                </a:solidFill>
                <a:latin typeface="Aptos" pitchFamily="34" charset="0"/>
                <a:ea typeface="Aptos" pitchFamily="34" charset="-122"/>
                <a:cs typeface="Aptos" pitchFamily="34" charset="-120"/>
              </a:rPr>
              <a:t>04</a:t>
            </a:r>
            <a:endParaRPr lang="en-US" sz="800" dirty="0"/>
          </a:p>
        </p:txBody>
      </p:sp>
      <p:sp>
        <p:nvSpPr>
          <p:cNvPr id="6" name="Shape 4"/>
          <p:cNvSpPr/>
          <p:nvPr/>
        </p:nvSpPr>
        <p:spPr>
          <a:xfrm>
            <a:off x="594360" y="1572768"/>
            <a:ext cx="1261872" cy="1005840"/>
          </a:xfrm>
          <a:prstGeom prst="roundRect">
            <a:avLst>
              <a:gd name="adj" fmla="val 7273"/>
            </a:avLst>
          </a:prstGeom>
          <a:solidFill>
            <a:srgbClr val="ECFDF5"/>
          </a:solidFill>
          <a:ln w="12700">
            <a:solidFill>
              <a:srgbClr val="A7F3D0"/>
            </a:solidFill>
            <a:prstDash val="solid"/>
          </a:ln>
        </p:spPr>
      </p:sp>
      <p:sp>
        <p:nvSpPr>
          <p:cNvPr id="7" name="Text 5"/>
          <p:cNvSpPr/>
          <p:nvPr/>
        </p:nvSpPr>
        <p:spPr>
          <a:xfrm>
            <a:off x="667512" y="1783080"/>
            <a:ext cx="1115568" cy="155448"/>
          </a:xfrm>
          <a:prstGeom prst="rect">
            <a:avLst/>
          </a:prstGeom>
          <a:noFill/>
          <a:ln/>
        </p:spPr>
        <p:txBody>
          <a:bodyPr wrap="square" lIns="0" tIns="0" rIns="0" bIns="0" rtlCol="0" anchor="ctr">
            <a:normAutofit/>
          </a:bodyPr>
          <a:lstStyle/>
          <a:p>
            <a:pPr algn="ctr" indent="0" marL="0">
              <a:buNone/>
            </a:pPr>
            <a:r>
              <a:rPr lang="en-US" sz="1100" b="1" dirty="0">
                <a:solidFill>
                  <a:srgbClr val="102033"/>
                </a:solidFill>
              </a:rPr>
              <a:t>Lint</a:t>
            </a:r>
            <a:endParaRPr lang="en-US" sz="1100" dirty="0"/>
          </a:p>
        </p:txBody>
      </p:sp>
      <p:sp>
        <p:nvSpPr>
          <p:cNvPr id="8" name="Text 6"/>
          <p:cNvSpPr/>
          <p:nvPr/>
        </p:nvSpPr>
        <p:spPr>
          <a:xfrm>
            <a:off x="667512" y="2039112"/>
            <a:ext cx="1115568" cy="146304"/>
          </a:xfrm>
          <a:prstGeom prst="rect">
            <a:avLst/>
          </a:prstGeom>
          <a:noFill/>
          <a:ln/>
        </p:spPr>
        <p:txBody>
          <a:bodyPr wrap="square" lIns="0" tIns="0" rIns="0" bIns="0" rtlCol="0" anchor="ctr">
            <a:normAutofit/>
          </a:bodyPr>
          <a:lstStyle/>
          <a:p>
            <a:pPr algn="ctr" indent="0" marL="0">
              <a:buNone/>
            </a:pPr>
            <a:r>
              <a:rPr lang="en-US" sz="740" dirty="0">
                <a:solidFill>
                  <a:srgbClr val="5B6B7D"/>
                </a:solidFill>
              </a:rPr>
              <a:t>Flake8</a:t>
            </a:r>
            <a:endParaRPr lang="en-US" sz="740" dirty="0"/>
          </a:p>
        </p:txBody>
      </p:sp>
      <p:sp>
        <p:nvSpPr>
          <p:cNvPr id="9" name="Shape 7"/>
          <p:cNvSpPr/>
          <p:nvPr/>
        </p:nvSpPr>
        <p:spPr>
          <a:xfrm>
            <a:off x="1856232" y="1920240"/>
            <a:ext cx="310896" cy="219456"/>
          </a:xfrm>
          <a:prstGeom prst="rightArrow">
            <a:avLst/>
          </a:prstGeom>
          <a:solidFill>
            <a:srgbClr val="D9E2EC"/>
          </a:solidFill>
          <a:ln w="12700">
            <a:solidFill>
              <a:srgbClr val="D9E2EC"/>
            </a:solidFill>
            <a:prstDash val="solid"/>
          </a:ln>
        </p:spPr>
      </p:sp>
      <p:sp>
        <p:nvSpPr>
          <p:cNvPr id="10" name="Shape 8"/>
          <p:cNvSpPr/>
          <p:nvPr/>
        </p:nvSpPr>
        <p:spPr>
          <a:xfrm>
            <a:off x="2212848" y="1572768"/>
            <a:ext cx="1261872" cy="1005840"/>
          </a:xfrm>
          <a:prstGeom prst="roundRect">
            <a:avLst>
              <a:gd name="adj" fmla="val 7273"/>
            </a:avLst>
          </a:prstGeom>
          <a:solidFill>
            <a:srgbClr val="ECFDF5"/>
          </a:solidFill>
          <a:ln w="12700">
            <a:solidFill>
              <a:srgbClr val="A7F3D0"/>
            </a:solidFill>
            <a:prstDash val="solid"/>
          </a:ln>
        </p:spPr>
      </p:sp>
      <p:sp>
        <p:nvSpPr>
          <p:cNvPr id="11" name="Text 9"/>
          <p:cNvSpPr/>
          <p:nvPr/>
        </p:nvSpPr>
        <p:spPr>
          <a:xfrm>
            <a:off x="2286000" y="1783080"/>
            <a:ext cx="1115568" cy="155448"/>
          </a:xfrm>
          <a:prstGeom prst="rect">
            <a:avLst/>
          </a:prstGeom>
          <a:noFill/>
          <a:ln/>
        </p:spPr>
        <p:txBody>
          <a:bodyPr wrap="square" lIns="0" tIns="0" rIns="0" bIns="0" rtlCol="0" anchor="ctr">
            <a:normAutofit/>
          </a:bodyPr>
          <a:lstStyle/>
          <a:p>
            <a:pPr algn="ctr" indent="0" marL="0">
              <a:buNone/>
            </a:pPr>
            <a:r>
              <a:rPr lang="en-US" sz="1100" b="1" dirty="0">
                <a:solidFill>
                  <a:srgbClr val="102033"/>
                </a:solidFill>
              </a:rPr>
              <a:t>Pytest</a:t>
            </a:r>
            <a:endParaRPr lang="en-US" sz="1100" dirty="0"/>
          </a:p>
        </p:txBody>
      </p:sp>
      <p:sp>
        <p:nvSpPr>
          <p:cNvPr id="12" name="Text 10"/>
          <p:cNvSpPr/>
          <p:nvPr/>
        </p:nvSpPr>
        <p:spPr>
          <a:xfrm>
            <a:off x="2286000" y="2039112"/>
            <a:ext cx="1115568" cy="146304"/>
          </a:xfrm>
          <a:prstGeom prst="rect">
            <a:avLst/>
          </a:prstGeom>
          <a:noFill/>
          <a:ln/>
        </p:spPr>
        <p:txBody>
          <a:bodyPr wrap="square" lIns="0" tIns="0" rIns="0" bIns="0" rtlCol="0" anchor="ctr">
            <a:normAutofit/>
          </a:bodyPr>
          <a:lstStyle/>
          <a:p>
            <a:pPr algn="ctr" indent="0" marL="0">
              <a:buNone/>
            </a:pPr>
            <a:r>
              <a:rPr lang="en-US" sz="740" dirty="0">
                <a:solidFill>
                  <a:srgbClr val="5B6B7D"/>
                </a:solidFill>
              </a:rPr>
              <a:t>Coverage &gt;= %70</a:t>
            </a:r>
            <a:endParaRPr lang="en-US" sz="740" dirty="0"/>
          </a:p>
        </p:txBody>
      </p:sp>
      <p:sp>
        <p:nvSpPr>
          <p:cNvPr id="13" name="Shape 11"/>
          <p:cNvSpPr/>
          <p:nvPr/>
        </p:nvSpPr>
        <p:spPr>
          <a:xfrm>
            <a:off x="3474720" y="1920240"/>
            <a:ext cx="310896" cy="219456"/>
          </a:xfrm>
          <a:prstGeom prst="rightArrow">
            <a:avLst/>
          </a:prstGeom>
          <a:solidFill>
            <a:srgbClr val="D9E2EC"/>
          </a:solidFill>
          <a:ln w="12700">
            <a:solidFill>
              <a:srgbClr val="D9E2EC"/>
            </a:solidFill>
            <a:prstDash val="solid"/>
          </a:ln>
        </p:spPr>
      </p:sp>
      <p:sp>
        <p:nvSpPr>
          <p:cNvPr id="14" name="Shape 12"/>
          <p:cNvSpPr/>
          <p:nvPr/>
        </p:nvSpPr>
        <p:spPr>
          <a:xfrm>
            <a:off x="3831336" y="1572768"/>
            <a:ext cx="1261872" cy="1005840"/>
          </a:xfrm>
          <a:prstGeom prst="roundRect">
            <a:avLst>
              <a:gd name="adj" fmla="val 7273"/>
            </a:avLst>
          </a:prstGeom>
          <a:solidFill>
            <a:srgbClr val="ECFDF5"/>
          </a:solidFill>
          <a:ln w="12700">
            <a:solidFill>
              <a:srgbClr val="A7F3D0"/>
            </a:solidFill>
            <a:prstDash val="solid"/>
          </a:ln>
        </p:spPr>
      </p:sp>
      <p:sp>
        <p:nvSpPr>
          <p:cNvPr id="15" name="Text 13"/>
          <p:cNvSpPr/>
          <p:nvPr/>
        </p:nvSpPr>
        <p:spPr>
          <a:xfrm>
            <a:off x="3904488" y="1783080"/>
            <a:ext cx="1115568" cy="155448"/>
          </a:xfrm>
          <a:prstGeom prst="rect">
            <a:avLst/>
          </a:prstGeom>
          <a:noFill/>
          <a:ln/>
        </p:spPr>
        <p:txBody>
          <a:bodyPr wrap="square" lIns="0" tIns="0" rIns="0" bIns="0" rtlCol="0" anchor="ctr">
            <a:normAutofit/>
          </a:bodyPr>
          <a:lstStyle/>
          <a:p>
            <a:pPr algn="ctr" indent="0" marL="0">
              <a:buNone/>
            </a:pPr>
            <a:r>
              <a:rPr lang="en-US" sz="1100" b="1" dirty="0">
                <a:solidFill>
                  <a:srgbClr val="102033"/>
                </a:solidFill>
              </a:rPr>
              <a:t>Newman</a:t>
            </a:r>
            <a:endParaRPr lang="en-US" sz="1100" dirty="0"/>
          </a:p>
        </p:txBody>
      </p:sp>
      <p:sp>
        <p:nvSpPr>
          <p:cNvPr id="16" name="Text 14"/>
          <p:cNvSpPr/>
          <p:nvPr/>
        </p:nvSpPr>
        <p:spPr>
          <a:xfrm>
            <a:off x="3904488" y="2039112"/>
            <a:ext cx="1115568" cy="146304"/>
          </a:xfrm>
          <a:prstGeom prst="rect">
            <a:avLst/>
          </a:prstGeom>
          <a:noFill/>
          <a:ln/>
        </p:spPr>
        <p:txBody>
          <a:bodyPr wrap="square" lIns="0" tIns="0" rIns="0" bIns="0" rtlCol="0" anchor="ctr">
            <a:normAutofit/>
          </a:bodyPr>
          <a:lstStyle/>
          <a:p>
            <a:pPr algn="ctr" indent="0" marL="0">
              <a:buNone/>
            </a:pPr>
            <a:r>
              <a:rPr lang="en-US" sz="740" dirty="0">
                <a:solidFill>
                  <a:srgbClr val="5B6B7D"/>
                </a:solidFill>
              </a:rPr>
              <a:t>8 API istegi</a:t>
            </a:r>
            <a:endParaRPr lang="en-US" sz="740" dirty="0"/>
          </a:p>
        </p:txBody>
      </p:sp>
      <p:sp>
        <p:nvSpPr>
          <p:cNvPr id="17" name="Shape 15"/>
          <p:cNvSpPr/>
          <p:nvPr/>
        </p:nvSpPr>
        <p:spPr>
          <a:xfrm>
            <a:off x="5093208" y="1920240"/>
            <a:ext cx="310896" cy="219456"/>
          </a:xfrm>
          <a:prstGeom prst="rightArrow">
            <a:avLst/>
          </a:prstGeom>
          <a:solidFill>
            <a:srgbClr val="D9E2EC"/>
          </a:solidFill>
          <a:ln w="12700">
            <a:solidFill>
              <a:srgbClr val="D9E2EC"/>
            </a:solidFill>
            <a:prstDash val="solid"/>
          </a:ln>
        </p:spPr>
      </p:sp>
      <p:sp>
        <p:nvSpPr>
          <p:cNvPr id="18" name="Shape 16"/>
          <p:cNvSpPr/>
          <p:nvPr/>
        </p:nvSpPr>
        <p:spPr>
          <a:xfrm>
            <a:off x="5449824" y="1572768"/>
            <a:ext cx="1261872" cy="1005840"/>
          </a:xfrm>
          <a:prstGeom prst="roundRect">
            <a:avLst>
              <a:gd name="adj" fmla="val 7273"/>
            </a:avLst>
          </a:prstGeom>
          <a:solidFill>
            <a:srgbClr val="EFF6FF"/>
          </a:solidFill>
          <a:ln w="12700">
            <a:solidFill>
              <a:srgbClr val="BFDBFE"/>
            </a:solidFill>
            <a:prstDash val="solid"/>
          </a:ln>
        </p:spPr>
      </p:sp>
      <p:sp>
        <p:nvSpPr>
          <p:cNvPr id="19" name="Text 17"/>
          <p:cNvSpPr/>
          <p:nvPr/>
        </p:nvSpPr>
        <p:spPr>
          <a:xfrm>
            <a:off x="5522976" y="1783080"/>
            <a:ext cx="1115568" cy="155448"/>
          </a:xfrm>
          <a:prstGeom prst="rect">
            <a:avLst/>
          </a:prstGeom>
          <a:noFill/>
          <a:ln/>
        </p:spPr>
        <p:txBody>
          <a:bodyPr wrap="square" lIns="0" tIns="0" rIns="0" bIns="0" rtlCol="0" anchor="ctr">
            <a:normAutofit/>
          </a:bodyPr>
          <a:lstStyle/>
          <a:p>
            <a:pPr algn="ctr" indent="0" marL="0">
              <a:buNone/>
            </a:pPr>
            <a:r>
              <a:rPr lang="en-US" sz="1100" b="1" dirty="0">
                <a:solidFill>
                  <a:srgbClr val="102033"/>
                </a:solidFill>
              </a:rPr>
              <a:t>Docker</a:t>
            </a:r>
            <a:endParaRPr lang="en-US" sz="1100" dirty="0"/>
          </a:p>
        </p:txBody>
      </p:sp>
      <p:sp>
        <p:nvSpPr>
          <p:cNvPr id="20" name="Text 18"/>
          <p:cNvSpPr/>
          <p:nvPr/>
        </p:nvSpPr>
        <p:spPr>
          <a:xfrm>
            <a:off x="5522976" y="2039112"/>
            <a:ext cx="1115568" cy="146304"/>
          </a:xfrm>
          <a:prstGeom prst="rect">
            <a:avLst/>
          </a:prstGeom>
          <a:noFill/>
          <a:ln/>
        </p:spPr>
        <p:txBody>
          <a:bodyPr wrap="square" lIns="0" tIns="0" rIns="0" bIns="0" rtlCol="0" anchor="ctr">
            <a:normAutofit/>
          </a:bodyPr>
          <a:lstStyle/>
          <a:p>
            <a:pPr algn="ctr" indent="0" marL="0">
              <a:buNone/>
            </a:pPr>
            <a:r>
              <a:rPr lang="en-US" sz="740" dirty="0">
                <a:solidFill>
                  <a:srgbClr val="5B6B7D"/>
                </a:solidFill>
              </a:rPr>
              <a:t>Multi-stage build</a:t>
            </a:r>
            <a:endParaRPr lang="en-US" sz="740" dirty="0"/>
          </a:p>
        </p:txBody>
      </p:sp>
      <p:sp>
        <p:nvSpPr>
          <p:cNvPr id="21" name="Shape 19"/>
          <p:cNvSpPr/>
          <p:nvPr/>
        </p:nvSpPr>
        <p:spPr>
          <a:xfrm>
            <a:off x="6711696" y="1920240"/>
            <a:ext cx="310896" cy="219456"/>
          </a:xfrm>
          <a:prstGeom prst="rightArrow">
            <a:avLst/>
          </a:prstGeom>
          <a:solidFill>
            <a:srgbClr val="D9E2EC"/>
          </a:solidFill>
          <a:ln w="12700">
            <a:solidFill>
              <a:srgbClr val="D9E2EC"/>
            </a:solidFill>
            <a:prstDash val="solid"/>
          </a:ln>
        </p:spPr>
      </p:sp>
      <p:sp>
        <p:nvSpPr>
          <p:cNvPr id="22" name="Shape 20"/>
          <p:cNvSpPr/>
          <p:nvPr/>
        </p:nvSpPr>
        <p:spPr>
          <a:xfrm>
            <a:off x="7068312" y="1572768"/>
            <a:ext cx="1261872" cy="1005840"/>
          </a:xfrm>
          <a:prstGeom prst="roundRect">
            <a:avLst>
              <a:gd name="adj" fmla="val 7273"/>
            </a:avLst>
          </a:prstGeom>
          <a:solidFill>
            <a:srgbClr val="EFF6FF"/>
          </a:solidFill>
          <a:ln w="12700">
            <a:solidFill>
              <a:srgbClr val="BFDBFE"/>
            </a:solidFill>
            <a:prstDash val="solid"/>
          </a:ln>
        </p:spPr>
      </p:sp>
      <p:sp>
        <p:nvSpPr>
          <p:cNvPr id="23" name="Text 21"/>
          <p:cNvSpPr/>
          <p:nvPr/>
        </p:nvSpPr>
        <p:spPr>
          <a:xfrm>
            <a:off x="7141464" y="1783080"/>
            <a:ext cx="1115568" cy="155448"/>
          </a:xfrm>
          <a:prstGeom prst="rect">
            <a:avLst/>
          </a:prstGeom>
          <a:noFill/>
          <a:ln/>
        </p:spPr>
        <p:txBody>
          <a:bodyPr wrap="square" lIns="0" tIns="0" rIns="0" bIns="0" rtlCol="0" anchor="ctr">
            <a:normAutofit/>
          </a:bodyPr>
          <a:lstStyle/>
          <a:p>
            <a:pPr algn="ctr" indent="0" marL="0">
              <a:buNone/>
            </a:pPr>
            <a:r>
              <a:rPr lang="en-US" sz="1100" b="1" dirty="0">
                <a:solidFill>
                  <a:srgbClr val="102033"/>
                </a:solidFill>
              </a:rPr>
              <a:t>K8s Deploy</a:t>
            </a:r>
            <a:endParaRPr lang="en-US" sz="1100" dirty="0"/>
          </a:p>
        </p:txBody>
      </p:sp>
      <p:sp>
        <p:nvSpPr>
          <p:cNvPr id="24" name="Text 22"/>
          <p:cNvSpPr/>
          <p:nvPr/>
        </p:nvSpPr>
        <p:spPr>
          <a:xfrm>
            <a:off x="7141464" y="2039112"/>
            <a:ext cx="1115568" cy="146304"/>
          </a:xfrm>
          <a:prstGeom prst="rect">
            <a:avLst/>
          </a:prstGeom>
          <a:noFill/>
          <a:ln/>
        </p:spPr>
        <p:txBody>
          <a:bodyPr wrap="square" lIns="0" tIns="0" rIns="0" bIns="0" rtlCol="0" anchor="ctr">
            <a:normAutofit/>
          </a:bodyPr>
          <a:lstStyle/>
          <a:p>
            <a:pPr algn="ctr" indent="0" marL="0">
              <a:buNone/>
            </a:pPr>
            <a:r>
              <a:rPr lang="en-US" sz="740" dirty="0">
                <a:solidFill>
                  <a:srgbClr val="5B6B7D"/>
                </a:solidFill>
              </a:rPr>
              <a:t>Minikube rollout</a:t>
            </a:r>
            <a:endParaRPr lang="en-US" sz="740" dirty="0"/>
          </a:p>
        </p:txBody>
      </p:sp>
      <p:sp>
        <p:nvSpPr>
          <p:cNvPr id="25" name="Shape 23"/>
          <p:cNvSpPr/>
          <p:nvPr/>
        </p:nvSpPr>
        <p:spPr>
          <a:xfrm>
            <a:off x="8330184" y="1920240"/>
            <a:ext cx="310896" cy="219456"/>
          </a:xfrm>
          <a:prstGeom prst="rightArrow">
            <a:avLst/>
          </a:prstGeom>
          <a:solidFill>
            <a:srgbClr val="D9E2EC"/>
          </a:solidFill>
          <a:ln w="12700">
            <a:solidFill>
              <a:srgbClr val="D9E2EC"/>
            </a:solidFill>
            <a:prstDash val="solid"/>
          </a:ln>
        </p:spPr>
      </p:sp>
      <p:sp>
        <p:nvSpPr>
          <p:cNvPr id="26" name="Shape 24"/>
          <p:cNvSpPr/>
          <p:nvPr/>
        </p:nvSpPr>
        <p:spPr>
          <a:xfrm>
            <a:off x="8686800" y="1572768"/>
            <a:ext cx="1261872" cy="1005840"/>
          </a:xfrm>
          <a:prstGeom prst="roundRect">
            <a:avLst>
              <a:gd name="adj" fmla="val 7273"/>
            </a:avLst>
          </a:prstGeom>
          <a:solidFill>
            <a:srgbClr val="F5F3FF"/>
          </a:solidFill>
          <a:ln w="12700">
            <a:solidFill>
              <a:srgbClr val="DDD6FE"/>
            </a:solidFill>
            <a:prstDash val="solid"/>
          </a:ln>
        </p:spPr>
      </p:sp>
      <p:sp>
        <p:nvSpPr>
          <p:cNvPr id="27" name="Text 25"/>
          <p:cNvSpPr/>
          <p:nvPr/>
        </p:nvSpPr>
        <p:spPr>
          <a:xfrm>
            <a:off x="8759952" y="1783080"/>
            <a:ext cx="1115568" cy="155448"/>
          </a:xfrm>
          <a:prstGeom prst="rect">
            <a:avLst/>
          </a:prstGeom>
          <a:noFill/>
          <a:ln/>
        </p:spPr>
        <p:txBody>
          <a:bodyPr wrap="square" lIns="0" tIns="0" rIns="0" bIns="0" rtlCol="0" anchor="ctr">
            <a:normAutofit/>
          </a:bodyPr>
          <a:lstStyle/>
          <a:p>
            <a:pPr algn="ctr" indent="0" marL="0">
              <a:buNone/>
            </a:pPr>
            <a:r>
              <a:rPr lang="en-US" sz="1100" b="1" dirty="0">
                <a:solidFill>
                  <a:srgbClr val="102033"/>
                </a:solidFill>
              </a:rPr>
              <a:t>Smoke</a:t>
            </a:r>
            <a:endParaRPr lang="en-US" sz="1100" dirty="0"/>
          </a:p>
        </p:txBody>
      </p:sp>
      <p:sp>
        <p:nvSpPr>
          <p:cNvPr id="28" name="Text 26"/>
          <p:cNvSpPr/>
          <p:nvPr/>
        </p:nvSpPr>
        <p:spPr>
          <a:xfrm>
            <a:off x="8759952" y="2039112"/>
            <a:ext cx="1115568" cy="146304"/>
          </a:xfrm>
          <a:prstGeom prst="rect">
            <a:avLst/>
          </a:prstGeom>
          <a:noFill/>
          <a:ln/>
        </p:spPr>
        <p:txBody>
          <a:bodyPr wrap="square" lIns="0" tIns="0" rIns="0" bIns="0" rtlCol="0" anchor="ctr">
            <a:normAutofit/>
          </a:bodyPr>
          <a:lstStyle/>
          <a:p>
            <a:pPr algn="ctr" indent="0" marL="0">
              <a:buNone/>
            </a:pPr>
            <a:r>
              <a:rPr lang="en-US" sz="740" dirty="0">
                <a:solidFill>
                  <a:srgbClr val="5B6B7D"/>
                </a:solidFill>
              </a:rPr>
              <a:t>/health + CRUD</a:t>
            </a:r>
            <a:endParaRPr lang="en-US" sz="740" dirty="0"/>
          </a:p>
        </p:txBody>
      </p:sp>
      <p:sp>
        <p:nvSpPr>
          <p:cNvPr id="29" name="Shape 27"/>
          <p:cNvSpPr/>
          <p:nvPr/>
        </p:nvSpPr>
        <p:spPr>
          <a:xfrm>
            <a:off x="9948672" y="1920240"/>
            <a:ext cx="310896" cy="219456"/>
          </a:xfrm>
          <a:prstGeom prst="rightArrow">
            <a:avLst/>
          </a:prstGeom>
          <a:solidFill>
            <a:srgbClr val="D9E2EC"/>
          </a:solidFill>
          <a:ln w="12700">
            <a:solidFill>
              <a:srgbClr val="D9E2EC"/>
            </a:solidFill>
            <a:prstDash val="solid"/>
          </a:ln>
        </p:spPr>
      </p:sp>
      <p:sp>
        <p:nvSpPr>
          <p:cNvPr id="30" name="Shape 28"/>
          <p:cNvSpPr/>
          <p:nvPr/>
        </p:nvSpPr>
        <p:spPr>
          <a:xfrm>
            <a:off x="10305288" y="1572768"/>
            <a:ext cx="1261872" cy="1005840"/>
          </a:xfrm>
          <a:prstGeom prst="roundRect">
            <a:avLst>
              <a:gd name="adj" fmla="val 7273"/>
            </a:avLst>
          </a:prstGeom>
          <a:solidFill>
            <a:srgbClr val="F5F3FF"/>
          </a:solidFill>
          <a:ln w="12700">
            <a:solidFill>
              <a:srgbClr val="DDD6FE"/>
            </a:solidFill>
            <a:prstDash val="solid"/>
          </a:ln>
        </p:spPr>
      </p:sp>
      <p:sp>
        <p:nvSpPr>
          <p:cNvPr id="31" name="Text 29"/>
          <p:cNvSpPr/>
          <p:nvPr/>
        </p:nvSpPr>
        <p:spPr>
          <a:xfrm>
            <a:off x="10378440" y="1783080"/>
            <a:ext cx="1115568" cy="155448"/>
          </a:xfrm>
          <a:prstGeom prst="rect">
            <a:avLst/>
          </a:prstGeom>
          <a:noFill/>
          <a:ln/>
        </p:spPr>
        <p:txBody>
          <a:bodyPr wrap="square" lIns="0" tIns="0" rIns="0" bIns="0" rtlCol="0" anchor="ctr">
            <a:normAutofit/>
          </a:bodyPr>
          <a:lstStyle/>
          <a:p>
            <a:pPr algn="ctr" indent="0" marL="0">
              <a:buNone/>
            </a:pPr>
            <a:r>
              <a:rPr lang="en-US" sz="1100" b="1" dirty="0">
                <a:solidFill>
                  <a:srgbClr val="102033"/>
                </a:solidFill>
              </a:rPr>
              <a:t>E2E</a:t>
            </a:r>
            <a:endParaRPr lang="en-US" sz="1100" dirty="0"/>
          </a:p>
        </p:txBody>
      </p:sp>
      <p:sp>
        <p:nvSpPr>
          <p:cNvPr id="32" name="Text 30"/>
          <p:cNvSpPr/>
          <p:nvPr/>
        </p:nvSpPr>
        <p:spPr>
          <a:xfrm>
            <a:off x="10378440" y="2039112"/>
            <a:ext cx="1115568" cy="146304"/>
          </a:xfrm>
          <a:prstGeom prst="rect">
            <a:avLst/>
          </a:prstGeom>
          <a:noFill/>
          <a:ln/>
        </p:spPr>
        <p:txBody>
          <a:bodyPr wrap="square" lIns="0" tIns="0" rIns="0" bIns="0" rtlCol="0" anchor="ctr">
            <a:normAutofit/>
          </a:bodyPr>
          <a:lstStyle/>
          <a:p>
            <a:pPr algn="ctr" indent="0" marL="0">
              <a:buNone/>
            </a:pPr>
            <a:r>
              <a:rPr lang="en-US" sz="740" dirty="0">
                <a:solidFill>
                  <a:srgbClr val="5B6B7D"/>
                </a:solidFill>
              </a:rPr>
              <a:t>Playwright</a:t>
            </a:r>
            <a:endParaRPr lang="en-US" sz="740" dirty="0"/>
          </a:p>
        </p:txBody>
      </p:sp>
      <p:sp>
        <p:nvSpPr>
          <p:cNvPr id="33" name="Shape 31"/>
          <p:cNvSpPr/>
          <p:nvPr/>
        </p:nvSpPr>
        <p:spPr>
          <a:xfrm>
            <a:off x="685800" y="3246120"/>
            <a:ext cx="5257800" cy="2148840"/>
          </a:xfrm>
          <a:prstGeom prst="roundRect">
            <a:avLst>
              <a:gd name="adj" fmla="val 3404"/>
            </a:avLst>
          </a:prstGeom>
          <a:solidFill>
            <a:srgbClr val="FFFFFF"/>
          </a:solidFill>
          <a:ln w="12700">
            <a:solidFill>
              <a:srgbClr val="D9E2EC"/>
            </a:solidFill>
            <a:prstDash val="solid"/>
          </a:ln>
          <a:effectLst>
            <a:outerShdw sx="100000" sy="100000" kx="0" ky="0" algn="bl" rotWithShape="0" blurRad="12700" dist="50800" dir="2700000">
              <a:srgbClr val="CBD5E1">
                <a:alpha val="22000"/>
              </a:srgbClr>
            </a:outerShdw>
          </a:effectLst>
        </p:spPr>
      </p:sp>
      <p:sp>
        <p:nvSpPr>
          <p:cNvPr id="34" name="Text 32"/>
          <p:cNvSpPr/>
          <p:nvPr/>
        </p:nvSpPr>
        <p:spPr>
          <a:xfrm>
            <a:off x="960120" y="3566160"/>
            <a:ext cx="1828800" cy="182880"/>
          </a:xfrm>
          <a:prstGeom prst="rect">
            <a:avLst/>
          </a:prstGeom>
          <a:noFill/>
          <a:ln/>
        </p:spPr>
        <p:txBody>
          <a:bodyPr wrap="square" lIns="0" tIns="0" rIns="0" bIns="0" rtlCol="0" anchor="ctr">
            <a:normAutofit/>
          </a:bodyPr>
          <a:lstStyle/>
          <a:p>
            <a:pPr indent="0" marL="0">
              <a:buNone/>
            </a:pPr>
            <a:r>
              <a:rPr lang="en-US" sz="750" b="1" dirty="0">
                <a:solidFill>
                  <a:srgbClr val="2563EB"/>
                </a:solidFill>
              </a:rPr>
              <a:t>DEPLOY STRATEJISI</a:t>
            </a:r>
            <a:endParaRPr lang="en-US" sz="750" dirty="0"/>
          </a:p>
        </p:txBody>
      </p:sp>
      <p:sp>
        <p:nvSpPr>
          <p:cNvPr id="35" name="Text 33"/>
          <p:cNvSpPr/>
          <p:nvPr/>
        </p:nvSpPr>
        <p:spPr>
          <a:xfrm>
            <a:off x="960120" y="3886200"/>
            <a:ext cx="4526280" cy="859536"/>
          </a:xfrm>
          <a:prstGeom prst="rect">
            <a:avLst/>
          </a:prstGeom>
          <a:noFill/>
          <a:ln/>
        </p:spPr>
        <p:txBody>
          <a:bodyPr wrap="square" lIns="508" tIns="508" rIns="508" bIns="508" rtlCol="0" anchor="t">
            <a:normAutofit/>
          </a:bodyPr>
          <a:lstStyle/>
          <a:p>
            <a:pPr indent="0" marL="0">
              <a:buNone/>
            </a:pPr>
            <a:r>
              <a:rPr lang="en-US" sz="1300" dirty="0">
                <a:solidFill>
                  <a:srgbClr val="102033"/>
                </a:solidFill>
                <a:latin typeface="Aptos" pitchFamily="34" charset="0"/>
                <a:ea typeface="Aptos" pitchFamily="34" charset="-122"/>
                <a:cs typeface="Aptos" pitchFamily="34" charset="-120"/>
              </a:rPr>
              <a:t>Docker image olusturulur, Minikube icine build edilir, ConfigMap + Deployment + Service uygulanir. Rollout status beklenir; sonra smoke test ile kritik endpointler dogrulanir.</a:t>
            </a:r>
            <a:endParaRPr lang="en-US" sz="1300" dirty="0"/>
          </a:p>
        </p:txBody>
      </p:sp>
      <p:sp>
        <p:nvSpPr>
          <p:cNvPr id="36" name="Shape 34"/>
          <p:cNvSpPr/>
          <p:nvPr/>
        </p:nvSpPr>
        <p:spPr>
          <a:xfrm>
            <a:off x="6263640" y="3246120"/>
            <a:ext cx="5257800" cy="2148840"/>
          </a:xfrm>
          <a:prstGeom prst="roundRect">
            <a:avLst>
              <a:gd name="adj" fmla="val 3404"/>
            </a:avLst>
          </a:prstGeom>
          <a:solidFill>
            <a:srgbClr val="FFF7ED"/>
          </a:solidFill>
          <a:ln w="12700">
            <a:solidFill>
              <a:srgbClr val="FDBA74"/>
            </a:solidFill>
            <a:prstDash val="solid"/>
          </a:ln>
          <a:effectLst>
            <a:outerShdw sx="100000" sy="100000" kx="0" ky="0" algn="bl" rotWithShape="0" blurRad="12700" dist="50800" dir="2700000">
              <a:srgbClr val="CBD5E1">
                <a:alpha val="22000"/>
              </a:srgbClr>
            </a:outerShdw>
          </a:effectLst>
        </p:spPr>
      </p:sp>
      <p:sp>
        <p:nvSpPr>
          <p:cNvPr id="37" name="Text 35"/>
          <p:cNvSpPr/>
          <p:nvPr/>
        </p:nvSpPr>
        <p:spPr>
          <a:xfrm>
            <a:off x="6537960" y="3566160"/>
            <a:ext cx="2194560" cy="182880"/>
          </a:xfrm>
          <a:prstGeom prst="rect">
            <a:avLst/>
          </a:prstGeom>
          <a:noFill/>
          <a:ln/>
        </p:spPr>
        <p:txBody>
          <a:bodyPr wrap="square" lIns="0" tIns="0" rIns="0" bIns="0" rtlCol="0" anchor="ctr">
            <a:normAutofit/>
          </a:bodyPr>
          <a:lstStyle/>
          <a:p>
            <a:pPr indent="0" marL="0">
              <a:buNone/>
            </a:pPr>
            <a:r>
              <a:rPr lang="en-US" sz="750" b="1" dirty="0">
                <a:solidFill>
                  <a:srgbClr val="D97706"/>
                </a:solidFill>
              </a:rPr>
              <a:t>EKRAN GORUNTUSU ALANI</a:t>
            </a:r>
            <a:endParaRPr lang="en-US" sz="750" dirty="0"/>
          </a:p>
        </p:txBody>
      </p:sp>
      <p:sp>
        <p:nvSpPr>
          <p:cNvPr id="38" name="Text 36"/>
          <p:cNvSpPr/>
          <p:nvPr/>
        </p:nvSpPr>
        <p:spPr>
          <a:xfrm>
            <a:off x="6537960" y="3886200"/>
            <a:ext cx="4480560" cy="914400"/>
          </a:xfrm>
          <a:prstGeom prst="rect">
            <a:avLst/>
          </a:prstGeom>
          <a:noFill/>
          <a:ln/>
        </p:spPr>
        <p:txBody>
          <a:bodyPr wrap="square" lIns="508" tIns="508" rIns="508" bIns="508" rtlCol="0" anchor="t">
            <a:normAutofit/>
          </a:bodyPr>
          <a:lstStyle/>
          <a:p>
            <a:pPr indent="0" marL="0">
              <a:buNone/>
            </a:pPr>
            <a:r>
              <a:rPr lang="en-US" sz="1250" dirty="0">
                <a:solidFill>
                  <a:srgbClr val="102033"/>
                </a:solidFill>
                <a:latin typeface="Aptos" pitchFamily="34" charset="0"/>
                <a:ea typeface="Aptos" pitchFamily="34" charset="-122"/>
                <a:cs typeface="Aptos" pitchFamily="34" charset="-120"/>
              </a:rPr>
              <a:t>Istersen buraya GitHub Actions'ta basarili workflow ekran goruntusu ekle.</a:t>
            </a:r>
            <a:endParaRPr lang="en-US" sz="1250" dirty="0"/>
          </a:p>
          <a:p>
            <a:pPr indent="0" marL="0">
              <a:buNone/>
            </a:pPr>
            <a:endParaRPr lang="en-US" sz="1250" dirty="0"/>
          </a:p>
          <a:p>
            <a:pPr indent="0" marL="0">
              <a:buNone/>
            </a:pPr>
            <a:r>
              <a:rPr lang="en-US" sz="1250" dirty="0">
                <a:solidFill>
                  <a:srgbClr val="102033"/>
                </a:solidFill>
                <a:latin typeface="Aptos" pitchFamily="34" charset="0"/>
                <a:ea typeface="Aptos" pitchFamily="34" charset="-122"/>
                <a:cs typeface="Aptos" pitchFamily="34" charset="-120"/>
              </a:rPr>
              <a:t>Zorunlu degil; slayt pipeline akisini zaten anlatiyor.</a:t>
            </a:r>
            <a:endParaRPr lang="en-US" sz="1250" dirty="0"/>
          </a:p>
        </p:txBody>
      </p:sp>
      <p:sp>
        <p:nvSpPr>
          <p:cNvPr id="39" name="Shape 37"/>
          <p:cNvSpPr/>
          <p:nvPr/>
        </p:nvSpPr>
        <p:spPr>
          <a:xfrm>
            <a:off x="777240" y="5532120"/>
            <a:ext cx="10469880" cy="768096"/>
          </a:xfrm>
          <a:prstGeom prst="roundRect">
            <a:avLst>
              <a:gd name="adj" fmla="val 5952"/>
            </a:avLst>
          </a:prstGeom>
          <a:solidFill>
            <a:srgbClr val="FFFFFF"/>
          </a:solidFill>
          <a:ln w="13970">
            <a:solidFill>
              <a:srgbClr val="2563EB">
                <a:alpha val="82000"/>
              </a:srgbClr>
            </a:solidFill>
            <a:prstDash val="solid"/>
          </a:ln>
          <a:effectLst>
            <a:outerShdw sx="100000" sy="100000" kx="0" ky="0" algn="bl" rotWithShape="0" blurRad="12700" dist="50800" dir="2700000">
              <a:srgbClr val="CBD5E1">
                <a:alpha val="18000"/>
              </a:srgbClr>
            </a:outerShdw>
          </a:effectLst>
        </p:spPr>
      </p:sp>
      <p:sp>
        <p:nvSpPr>
          <p:cNvPr id="40" name="Shape 38"/>
          <p:cNvSpPr/>
          <p:nvPr/>
        </p:nvSpPr>
        <p:spPr>
          <a:xfrm>
            <a:off x="777240" y="5532120"/>
            <a:ext cx="73152" cy="768096"/>
          </a:xfrm>
          <a:prstGeom prst="rect">
            <a:avLst/>
          </a:prstGeom>
          <a:solidFill>
            <a:srgbClr val="2563EB"/>
          </a:solidFill>
          <a:ln w="12700">
            <a:solidFill>
              <a:srgbClr val="2563EB"/>
            </a:solidFill>
            <a:prstDash val="solid"/>
          </a:ln>
        </p:spPr>
      </p:sp>
      <p:sp>
        <p:nvSpPr>
          <p:cNvPr id="41" name="Text 39"/>
          <p:cNvSpPr/>
          <p:nvPr/>
        </p:nvSpPr>
        <p:spPr>
          <a:xfrm>
            <a:off x="978408" y="5660136"/>
            <a:ext cx="10085832" cy="146304"/>
          </a:xfrm>
          <a:prstGeom prst="rect">
            <a:avLst/>
          </a:prstGeom>
          <a:noFill/>
          <a:ln/>
        </p:spPr>
        <p:txBody>
          <a:bodyPr wrap="square" lIns="0" tIns="0" rIns="0" bIns="0" rtlCol="0" anchor="ctr">
            <a:normAutofit/>
          </a:bodyPr>
          <a:lstStyle/>
          <a:p>
            <a:pPr indent="0" marL="0">
              <a:buNone/>
            </a:pPr>
            <a:r>
              <a:rPr lang="en-US" sz="750" b="1" dirty="0">
                <a:solidFill>
                  <a:srgbClr val="2563EB"/>
                </a:solidFill>
              </a:rPr>
              <a:t>PIPELINE'I OKU</a:t>
            </a:r>
            <a:endParaRPr lang="en-US" sz="750" dirty="0"/>
          </a:p>
        </p:txBody>
      </p:sp>
      <p:sp>
        <p:nvSpPr>
          <p:cNvPr id="42" name="Text 40"/>
          <p:cNvSpPr/>
          <p:nvPr/>
        </p:nvSpPr>
        <p:spPr>
          <a:xfrm>
            <a:off x="978408" y="5888736"/>
            <a:ext cx="10085832" cy="292608"/>
          </a:xfrm>
          <a:prstGeom prst="rect">
            <a:avLst/>
          </a:prstGeom>
          <a:noFill/>
          <a:ln/>
        </p:spPr>
        <p:txBody>
          <a:bodyPr wrap="square" lIns="254" tIns="254" rIns="254" bIns="254" rtlCol="0" anchor="t">
            <a:normAutofit/>
          </a:bodyPr>
          <a:lstStyle/>
          <a:p>
            <a:pPr indent="0" marL="0">
              <a:buNone/>
            </a:pPr>
            <a:r>
              <a:rPr lang="en-US" sz="940" dirty="0">
                <a:solidFill>
                  <a:srgbClr val="102033"/>
                </a:solidFill>
              </a:rPr>
              <a:t>GitHub Actions akışı kod kalitesi kontrolüyle başlıyor. Lint başarılı olursa Pytest ve coverage çalışıyor; ardından Newman ile Postman API koleksiyonu koşuyor. Docker job'ında multi-stage image üretiliyor. Deploy aşamasında Minikube üzerinde Kubernetes manifestleri uygulanıyor. Son olarak smoke test kritik endpointleri, Playwright ise kullanıcı arayüzünü doğruluyor.</a:t>
            </a:r>
            <a:endParaRPr lang="en-US" sz="940" dirty="0"/>
          </a:p>
        </p:txBody>
      </p:sp>
      <p:sp>
        <p:nvSpPr>
          <p:cNvPr id="44" name="Text 41"/>
          <p:cNvSpPr/>
          <p:nvPr/>
        </p:nvSpPr>
        <p:spPr>
          <a:xfrm>
            <a:off x="502920" y="6510528"/>
            <a:ext cx="5212080" cy="164592"/>
          </a:xfrm>
          <a:prstGeom prst="rect">
            <a:avLst/>
          </a:prstGeom>
          <a:noFill/>
          <a:ln/>
        </p:spPr>
        <p:txBody>
          <a:bodyPr wrap="square" lIns="0" tIns="0" rIns="0" bIns="0" rtlCol="0" anchor="ctr"/>
          <a:lstStyle/>
          <a:p>
            <a:pPr indent="0" marL="0">
              <a:buNone/>
            </a:pPr>
            <a:r>
              <a:rPr lang="en-US" sz="700" dirty="0">
                <a:solidFill>
                  <a:srgbClr val="708090"/>
                </a:solidFill>
              </a:rPr>
              <a:t>URL Shortener Service | Bulut Mimarilerinde Test Muhendisligi</a:t>
            </a:r>
            <a:endParaRPr lang="en-US" sz="700" dirty="0"/>
          </a:p>
        </p:txBody>
      </p:sp>
      <p:sp>
        <p:nvSpPr>
          <p:cNvPr id="45" name="Text 42"/>
          <p:cNvSpPr/>
          <p:nvPr/>
        </p:nvSpPr>
        <p:spPr>
          <a:xfrm>
            <a:off x="9235440" y="6510528"/>
            <a:ext cx="2423160" cy="164592"/>
          </a:xfrm>
          <a:prstGeom prst="rect">
            <a:avLst/>
          </a:prstGeom>
          <a:noFill/>
          <a:ln/>
        </p:spPr>
        <p:txBody>
          <a:bodyPr wrap="square" lIns="0" tIns="0" rIns="0" bIns="0" rtlCol="0" anchor="ctr"/>
          <a:lstStyle/>
          <a:p>
            <a:pPr algn="r" indent="0" marL="0">
              <a:buNone/>
            </a:pPr>
            <a:r>
              <a:rPr lang="en-US" sz="700" dirty="0">
                <a:solidFill>
                  <a:srgbClr val="708090"/>
                </a:solidFill>
              </a:rPr>
              <a:t>Talha Ergelen | Osman Cingoz</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563EB"/>
          </a:solidFill>
          <a:ln w="12700">
            <a:solidFill>
              <a:srgbClr val="2563EB"/>
            </a:solidFill>
            <a:prstDash val="solid"/>
          </a:ln>
        </p:spPr>
      </p:sp>
      <p:sp>
        <p:nvSpPr>
          <p:cNvPr id="3" name="Text 1"/>
          <p:cNvSpPr/>
          <p:nvPr/>
        </p:nvSpPr>
        <p:spPr>
          <a:xfrm>
            <a:off x="502920" y="320040"/>
            <a:ext cx="4114800" cy="201168"/>
          </a:xfrm>
          <a:prstGeom prst="rect">
            <a:avLst/>
          </a:prstGeom>
          <a:noFill/>
          <a:ln/>
        </p:spPr>
        <p:txBody>
          <a:bodyPr wrap="square" lIns="0" tIns="0" rIns="0" bIns="0" rtlCol="0" anchor="ctr">
            <a:normAutofit/>
          </a:bodyPr>
          <a:lstStyle/>
          <a:p>
            <a:pPr indent="0" marL="0">
              <a:buNone/>
            </a:pPr>
            <a:r>
              <a:rPr lang="en-US" sz="850" b="1" dirty="0">
                <a:solidFill>
                  <a:srgbClr val="2563EB"/>
                </a:solidFill>
                <a:latin typeface="Aptos" pitchFamily="34" charset="0"/>
                <a:ea typeface="Aptos" pitchFamily="34" charset="-122"/>
                <a:cs typeface="Aptos" pitchFamily="34" charset="-120"/>
              </a:rPr>
              <a:t>5. MONITORING &amp; OBSERVABILITY</a:t>
            </a:r>
            <a:endParaRPr lang="en-US" sz="850" dirty="0"/>
          </a:p>
        </p:txBody>
      </p:sp>
      <p:sp>
        <p:nvSpPr>
          <p:cNvPr id="4" name="Text 2"/>
          <p:cNvSpPr/>
          <p:nvPr/>
        </p:nvSpPr>
        <p:spPr>
          <a:xfrm>
            <a:off x="502920" y="566928"/>
            <a:ext cx="8138160" cy="475488"/>
          </a:xfrm>
          <a:prstGeom prst="rect">
            <a:avLst/>
          </a:prstGeom>
          <a:noFill/>
          <a:ln/>
        </p:spPr>
        <p:txBody>
          <a:bodyPr wrap="square" lIns="0" tIns="0" rIns="0" bIns="0" rtlCol="0" anchor="ctr">
            <a:normAutofit/>
          </a:bodyPr>
          <a:lstStyle/>
          <a:p>
            <a:pPr indent="0" marL="0">
              <a:buNone/>
            </a:pPr>
            <a:r>
              <a:rPr lang="en-US" sz="2500" b="1" dirty="0">
                <a:solidFill>
                  <a:srgbClr val="102033"/>
                </a:solidFill>
                <a:latin typeface="Aptos Display" pitchFamily="34" charset="0"/>
                <a:ea typeface="Aptos Display" pitchFamily="34" charset="-122"/>
                <a:cs typeface="Aptos Display" pitchFamily="34" charset="-120"/>
              </a:rPr>
              <a:t>Metrik + dashboard + trace ile gorunur servis davranisi</a:t>
            </a:r>
            <a:endParaRPr lang="en-US" sz="2500" dirty="0"/>
          </a:p>
        </p:txBody>
      </p:sp>
      <p:sp>
        <p:nvSpPr>
          <p:cNvPr id="5" name="Text 3"/>
          <p:cNvSpPr/>
          <p:nvPr/>
        </p:nvSpPr>
        <p:spPr>
          <a:xfrm>
            <a:off x="11292840" y="384048"/>
            <a:ext cx="384048" cy="228600"/>
          </a:xfrm>
          <a:prstGeom prst="rect">
            <a:avLst/>
          </a:prstGeom>
          <a:solidFill>
            <a:srgbClr val="0F172A"/>
          </a:solidFill>
          <a:ln>
            <a:solidFill>
              <a:srgbClr val="0F172A"/>
            </a:solidFill>
          </a:ln>
        </p:spPr>
        <p:txBody>
          <a:bodyPr wrap="square" lIns="0" tIns="0" rIns="0" bIns="0" rtlCol="0" anchor="ctr"/>
          <a:lstStyle/>
          <a:p>
            <a:pPr algn="ctr" indent="0" marL="0">
              <a:buNone/>
            </a:pPr>
            <a:r>
              <a:rPr lang="en-US" sz="800" b="1" dirty="0">
                <a:solidFill>
                  <a:srgbClr val="FFFFFF"/>
                </a:solidFill>
                <a:latin typeface="Aptos" pitchFamily="34" charset="0"/>
                <a:ea typeface="Aptos" pitchFamily="34" charset="-122"/>
                <a:cs typeface="Aptos" pitchFamily="34" charset="-120"/>
              </a:rPr>
              <a:t>05</a:t>
            </a:r>
            <a:endParaRPr lang="en-US" sz="800" dirty="0"/>
          </a:p>
        </p:txBody>
      </p:sp>
      <p:sp>
        <p:nvSpPr>
          <p:cNvPr id="6" name="Shape 4"/>
          <p:cNvSpPr/>
          <p:nvPr/>
        </p:nvSpPr>
        <p:spPr>
          <a:xfrm>
            <a:off x="594360" y="1234440"/>
            <a:ext cx="6629400" cy="4434840"/>
          </a:xfrm>
          <a:prstGeom prst="roundRect">
            <a:avLst>
              <a:gd name="adj" fmla="val 1649"/>
            </a:avLst>
          </a:prstGeom>
          <a:solidFill>
            <a:srgbClr val="FFF7ED"/>
          </a:solidFill>
          <a:ln w="16510">
            <a:solidFill>
              <a:srgbClr val="D97706"/>
            </a:solidFill>
            <a:prstDash val="solid"/>
          </a:ln>
        </p:spPr>
      </p:sp>
      <p:sp>
        <p:nvSpPr>
          <p:cNvPr id="7" name="Text 5"/>
          <p:cNvSpPr/>
          <p:nvPr/>
        </p:nvSpPr>
        <p:spPr>
          <a:xfrm>
            <a:off x="850392" y="3177540"/>
            <a:ext cx="6117336" cy="548640"/>
          </a:xfrm>
          <a:prstGeom prst="rect">
            <a:avLst/>
          </a:prstGeom>
          <a:noFill/>
          <a:ln/>
        </p:spPr>
        <p:txBody>
          <a:bodyPr wrap="square" lIns="0" tIns="0" rIns="0" bIns="0" rtlCol="0" anchor="ctr">
            <a:normAutofit/>
          </a:bodyPr>
          <a:lstStyle/>
          <a:p>
            <a:pPr algn="ctr" indent="0" marL="0">
              <a:buNone/>
            </a:pPr>
            <a:r>
              <a:rPr lang="en-US" sz="1500" b="1" dirty="0">
                <a:solidFill>
                  <a:srgbClr val="D97706"/>
                </a:solidFill>
              </a:rPr>
              <a:t>BURAYA GRAFANA DASHBOARD EKRAN GORUNTUSU KOY</a:t>
            </a:r>
            <a:endParaRPr lang="en-US" sz="1500" dirty="0"/>
          </a:p>
        </p:txBody>
      </p:sp>
      <p:sp>
        <p:nvSpPr>
          <p:cNvPr id="8" name="Shape 6"/>
          <p:cNvSpPr/>
          <p:nvPr/>
        </p:nvSpPr>
        <p:spPr>
          <a:xfrm>
            <a:off x="7543800" y="1234440"/>
            <a:ext cx="4069080" cy="4434840"/>
          </a:xfrm>
          <a:prstGeom prst="roundRect">
            <a:avLst>
              <a:gd name="adj" fmla="val 1798"/>
            </a:avLst>
          </a:prstGeom>
          <a:solidFill>
            <a:srgbClr val="FFFFFF"/>
          </a:solidFill>
          <a:ln w="12700">
            <a:solidFill>
              <a:srgbClr val="D9E2EC"/>
            </a:solidFill>
            <a:prstDash val="solid"/>
          </a:ln>
          <a:effectLst>
            <a:outerShdw sx="100000" sy="100000" kx="0" ky="0" algn="bl" rotWithShape="0" blurRad="12700" dist="50800" dir="2700000">
              <a:srgbClr val="CBD5E1">
                <a:alpha val="22000"/>
              </a:srgbClr>
            </a:outerShdw>
          </a:effectLst>
        </p:spPr>
      </p:sp>
      <p:sp>
        <p:nvSpPr>
          <p:cNvPr id="9" name="Text 7"/>
          <p:cNvSpPr/>
          <p:nvPr/>
        </p:nvSpPr>
        <p:spPr>
          <a:xfrm>
            <a:off x="7845552" y="1554480"/>
            <a:ext cx="2011680" cy="182880"/>
          </a:xfrm>
          <a:prstGeom prst="rect">
            <a:avLst/>
          </a:prstGeom>
          <a:noFill/>
          <a:ln/>
        </p:spPr>
        <p:txBody>
          <a:bodyPr wrap="square" lIns="0" tIns="0" rIns="0" bIns="0" rtlCol="0" anchor="ctr">
            <a:normAutofit/>
          </a:bodyPr>
          <a:lstStyle/>
          <a:p>
            <a:pPr indent="0" marL="0">
              <a:buNone/>
            </a:pPr>
            <a:r>
              <a:rPr lang="en-US" sz="750" b="1" dirty="0">
                <a:solidFill>
                  <a:srgbClr val="2563EB"/>
                </a:solidFill>
              </a:rPr>
              <a:t>GRAFANA PANELLERI</a:t>
            </a:r>
            <a:endParaRPr lang="en-US" sz="750" dirty="0"/>
          </a:p>
        </p:txBody>
      </p:sp>
      <p:sp>
        <p:nvSpPr>
          <p:cNvPr id="10" name="Text 8"/>
          <p:cNvSpPr/>
          <p:nvPr/>
        </p:nvSpPr>
        <p:spPr>
          <a:xfrm>
            <a:off x="7845552" y="1901952"/>
            <a:ext cx="2331720" cy="1426464"/>
          </a:xfrm>
          <a:prstGeom prst="rect">
            <a:avLst/>
          </a:prstGeom>
          <a:noFill/>
          <a:ln/>
        </p:spPr>
        <p:txBody>
          <a:bodyPr wrap="square" lIns="508" tIns="508" rIns="508" bIns="508" rtlCol="0" anchor="t">
            <a:normAutofit/>
          </a:bodyPr>
          <a:lstStyle/>
          <a:p>
            <a:pPr indent="0" marL="0">
              <a:buNone/>
            </a:pPr>
            <a:r>
              <a:rPr lang="en-US" sz="1300" dirty="0">
                <a:solidFill>
                  <a:srgbClr val="102033"/>
                </a:solidFill>
                <a:latin typeface="Aptos" pitchFamily="34" charset="0"/>
                <a:ea typeface="Aptos" pitchFamily="34" charset="-122"/>
                <a:cs typeface="Aptos" pitchFamily="34" charset="-120"/>
              </a:rPr>
              <a:t>Toplam URL</a:t>
            </a:r>
            <a:endParaRPr lang="en-US" sz="1300" dirty="0"/>
          </a:p>
          <a:p>
            <a:pPr indent="0" marL="0">
              <a:buNone/>
            </a:pPr>
            <a:r>
              <a:rPr lang="en-US" sz="1300" dirty="0">
                <a:solidFill>
                  <a:srgbClr val="102033"/>
                </a:solidFill>
                <a:latin typeface="Aptos" pitchFamily="34" charset="0"/>
                <a:ea typeface="Aptos" pitchFamily="34" charset="-122"/>
                <a:cs typeface="Aptos" pitchFamily="34" charset="-120"/>
              </a:rPr>
              <a:t>Toplam redirect</a:t>
            </a:r>
            <a:endParaRPr lang="en-US" sz="1300" dirty="0"/>
          </a:p>
          <a:p>
            <a:pPr indent="0" marL="0">
              <a:buNone/>
            </a:pPr>
            <a:r>
              <a:rPr lang="en-US" sz="1300" dirty="0">
                <a:solidFill>
                  <a:srgbClr val="102033"/>
                </a:solidFill>
                <a:latin typeface="Aptos" pitchFamily="34" charset="0"/>
                <a:ea typeface="Aptos" pitchFamily="34" charset="-122"/>
                <a:cs typeface="Aptos" pitchFamily="34" charset="-120"/>
              </a:rPr>
              <a:t>Aktif URL sayisi</a:t>
            </a:r>
            <a:endParaRPr lang="en-US" sz="1300" dirty="0"/>
          </a:p>
          <a:p>
            <a:pPr indent="0" marL="0">
              <a:buNone/>
            </a:pPr>
            <a:r>
              <a:rPr lang="en-US" sz="1300" dirty="0">
                <a:solidFill>
                  <a:srgbClr val="102033"/>
                </a:solidFill>
                <a:latin typeface="Aptos" pitchFamily="34" charset="0"/>
                <a:ea typeface="Aptos" pitchFamily="34" charset="-122"/>
                <a:cs typeface="Aptos" pitchFamily="34" charset="-120"/>
              </a:rPr>
              <a:t>Hata orani</a:t>
            </a:r>
            <a:endParaRPr lang="en-US" sz="1300" dirty="0"/>
          </a:p>
          <a:p>
            <a:pPr indent="0" marL="0">
              <a:buNone/>
            </a:pPr>
            <a:r>
              <a:rPr lang="en-US" sz="1300" dirty="0">
                <a:solidFill>
                  <a:srgbClr val="102033"/>
                </a:solidFill>
                <a:latin typeface="Aptos" pitchFamily="34" charset="0"/>
                <a:ea typeface="Aptos" pitchFamily="34" charset="-122"/>
                <a:cs typeface="Aptos" pitchFamily="34" charset="-120"/>
              </a:rPr>
              <a:t>p95 gecikme</a:t>
            </a:r>
            <a:endParaRPr lang="en-US" sz="1300" dirty="0"/>
          </a:p>
          <a:p>
            <a:pPr indent="0" marL="0">
              <a:buNone/>
            </a:pPr>
            <a:r>
              <a:rPr lang="en-US" sz="1300" dirty="0">
                <a:solidFill>
                  <a:srgbClr val="102033"/>
                </a:solidFill>
                <a:latin typeface="Aptos" pitchFamily="34" charset="0"/>
                <a:ea typeface="Aptos" pitchFamily="34" charset="-122"/>
                <a:cs typeface="Aptos" pitchFamily="34" charset="-120"/>
              </a:rPr>
              <a:t>RPS</a:t>
            </a:r>
            <a:endParaRPr lang="en-US" sz="1300" dirty="0"/>
          </a:p>
        </p:txBody>
      </p:sp>
      <p:sp>
        <p:nvSpPr>
          <p:cNvPr id="11" name="Text 9"/>
          <p:cNvSpPr/>
          <p:nvPr/>
        </p:nvSpPr>
        <p:spPr>
          <a:xfrm>
            <a:off x="7845552" y="3703320"/>
            <a:ext cx="2286000" cy="182880"/>
          </a:xfrm>
          <a:prstGeom prst="rect">
            <a:avLst/>
          </a:prstGeom>
          <a:noFill/>
          <a:ln/>
        </p:spPr>
        <p:txBody>
          <a:bodyPr wrap="square" lIns="0" tIns="0" rIns="0" bIns="0" rtlCol="0" anchor="ctr">
            <a:normAutofit/>
          </a:bodyPr>
          <a:lstStyle/>
          <a:p>
            <a:pPr indent="0" marL="0">
              <a:buNone/>
            </a:pPr>
            <a:r>
              <a:rPr lang="en-US" sz="750" b="1" dirty="0">
                <a:solidFill>
                  <a:srgbClr val="059669"/>
                </a:solidFill>
              </a:rPr>
              <a:t>OBSERVABILITY KATMANI</a:t>
            </a:r>
            <a:endParaRPr lang="en-US" sz="750" dirty="0"/>
          </a:p>
        </p:txBody>
      </p:sp>
      <p:sp>
        <p:nvSpPr>
          <p:cNvPr id="12" name="Text 10"/>
          <p:cNvSpPr/>
          <p:nvPr/>
        </p:nvSpPr>
        <p:spPr>
          <a:xfrm>
            <a:off x="7845552" y="4005072"/>
            <a:ext cx="3154680" cy="868680"/>
          </a:xfrm>
          <a:prstGeom prst="rect">
            <a:avLst/>
          </a:prstGeom>
          <a:noFill/>
          <a:ln/>
        </p:spPr>
        <p:txBody>
          <a:bodyPr wrap="square" lIns="508" tIns="508" rIns="508" bIns="508" rtlCol="0" anchor="t">
            <a:normAutofit/>
          </a:bodyPr>
          <a:lstStyle/>
          <a:p>
            <a:pPr indent="0" marL="0">
              <a:buNone/>
            </a:pPr>
            <a:r>
              <a:rPr lang="en-US" sz="1170" dirty="0">
                <a:solidFill>
                  <a:srgbClr val="102033"/>
                </a:solidFill>
                <a:latin typeface="Aptos" pitchFamily="34" charset="0"/>
                <a:ea typeface="Aptos" pitchFamily="34" charset="-122"/>
                <a:cs typeface="Aptos" pitchFamily="34" charset="-120"/>
              </a:rPr>
              <a:t>Prometheus /metrics endpoint'ini 15 saniyede bir scrape eder. Grafana panelleri bu metrikleri gorsellestirir. Jaeger ise OpenTelemetry trace'lerini gosterir.</a:t>
            </a:r>
            <a:endParaRPr lang="en-US" sz="1170" dirty="0"/>
          </a:p>
        </p:txBody>
      </p:sp>
      <p:sp>
        <p:nvSpPr>
          <p:cNvPr id="13" name="Shape 11"/>
          <p:cNvSpPr/>
          <p:nvPr/>
        </p:nvSpPr>
        <p:spPr>
          <a:xfrm>
            <a:off x="685800" y="5696712"/>
            <a:ext cx="10561320" cy="594360"/>
          </a:xfrm>
          <a:prstGeom prst="roundRect">
            <a:avLst>
              <a:gd name="adj" fmla="val 7692"/>
            </a:avLst>
          </a:prstGeom>
          <a:solidFill>
            <a:srgbClr val="FFFFFF"/>
          </a:solidFill>
          <a:ln w="13970">
            <a:solidFill>
              <a:srgbClr val="D97706">
                <a:alpha val="82000"/>
              </a:srgbClr>
            </a:solidFill>
            <a:prstDash val="solid"/>
          </a:ln>
          <a:effectLst>
            <a:outerShdw sx="100000" sy="100000" kx="0" ky="0" algn="bl" rotWithShape="0" blurRad="12700" dist="50800" dir="2700000">
              <a:srgbClr val="CBD5E1">
                <a:alpha val="18000"/>
              </a:srgbClr>
            </a:outerShdw>
          </a:effectLst>
        </p:spPr>
      </p:sp>
      <p:sp>
        <p:nvSpPr>
          <p:cNvPr id="14" name="Shape 12"/>
          <p:cNvSpPr/>
          <p:nvPr/>
        </p:nvSpPr>
        <p:spPr>
          <a:xfrm>
            <a:off x="685800" y="5696712"/>
            <a:ext cx="73152" cy="594360"/>
          </a:xfrm>
          <a:prstGeom prst="rect">
            <a:avLst/>
          </a:prstGeom>
          <a:solidFill>
            <a:srgbClr val="D97706"/>
          </a:solidFill>
          <a:ln w="12700">
            <a:solidFill>
              <a:srgbClr val="D97706"/>
            </a:solidFill>
            <a:prstDash val="solid"/>
          </a:ln>
        </p:spPr>
      </p:sp>
      <p:sp>
        <p:nvSpPr>
          <p:cNvPr id="15" name="Text 13"/>
          <p:cNvSpPr/>
          <p:nvPr/>
        </p:nvSpPr>
        <p:spPr>
          <a:xfrm>
            <a:off x="886968" y="5824728"/>
            <a:ext cx="10177272" cy="146304"/>
          </a:xfrm>
          <a:prstGeom prst="rect">
            <a:avLst/>
          </a:prstGeom>
          <a:noFill/>
          <a:ln/>
        </p:spPr>
        <p:txBody>
          <a:bodyPr wrap="square" lIns="0" tIns="0" rIns="0" bIns="0" rtlCol="0" anchor="ctr">
            <a:normAutofit/>
          </a:bodyPr>
          <a:lstStyle/>
          <a:p>
            <a:pPr indent="0" marL="0">
              <a:buNone/>
            </a:pPr>
            <a:r>
              <a:rPr lang="en-US" sz="750" b="1" dirty="0">
                <a:solidFill>
                  <a:srgbClr val="D97706"/>
                </a:solidFill>
              </a:rPr>
              <a:t>DASHBOARD'U ANLAT</a:t>
            </a:r>
            <a:endParaRPr lang="en-US" sz="750" dirty="0"/>
          </a:p>
        </p:txBody>
      </p:sp>
      <p:sp>
        <p:nvSpPr>
          <p:cNvPr id="16" name="Text 14"/>
          <p:cNvSpPr/>
          <p:nvPr/>
        </p:nvSpPr>
        <p:spPr>
          <a:xfrm>
            <a:off x="886968" y="6053328"/>
            <a:ext cx="10177272" cy="118872"/>
          </a:xfrm>
          <a:prstGeom prst="rect">
            <a:avLst/>
          </a:prstGeom>
          <a:noFill/>
          <a:ln/>
        </p:spPr>
        <p:txBody>
          <a:bodyPr wrap="square" lIns="254" tIns="254" rIns="254" bIns="254" rtlCol="0" anchor="t">
            <a:normAutofit/>
          </a:bodyPr>
          <a:lstStyle/>
          <a:p>
            <a:pPr indent="0" marL="0">
              <a:buNone/>
            </a:pPr>
            <a:r>
              <a:rPr lang="en-US" sz="940" dirty="0">
                <a:solidFill>
                  <a:srgbClr val="102033"/>
                </a:solidFill>
              </a:rPr>
              <a:t>Bu ekranda Grafana dashboard'ından örnek paneller gösterilecek. Prometheus toplam URL sayısı, redirect sayısı, aktif URL sayısı, hata sayısı ve yanıt süresi gibi metrikleri topluyor. Grafana sayesinde sistemin sadece çalışıp çalışmadığını değil, yük altında nasıl davrandığını ve p95 gecikme değerini de gözlemleyebiliyoruz.</a:t>
            </a:r>
            <a:endParaRPr lang="en-US" sz="940" dirty="0"/>
          </a:p>
        </p:txBody>
      </p:sp>
      <p:sp>
        <p:nvSpPr>
          <p:cNvPr id="18" name="Text 15"/>
          <p:cNvSpPr/>
          <p:nvPr/>
        </p:nvSpPr>
        <p:spPr>
          <a:xfrm>
            <a:off x="502920" y="6510528"/>
            <a:ext cx="5212080" cy="164592"/>
          </a:xfrm>
          <a:prstGeom prst="rect">
            <a:avLst/>
          </a:prstGeom>
          <a:noFill/>
          <a:ln/>
        </p:spPr>
        <p:txBody>
          <a:bodyPr wrap="square" lIns="0" tIns="0" rIns="0" bIns="0" rtlCol="0" anchor="ctr"/>
          <a:lstStyle/>
          <a:p>
            <a:pPr indent="0" marL="0">
              <a:buNone/>
            </a:pPr>
            <a:r>
              <a:rPr lang="en-US" sz="700" dirty="0">
                <a:solidFill>
                  <a:srgbClr val="708090"/>
                </a:solidFill>
              </a:rPr>
              <a:t>URL Shortener Service | Bulut Mimarilerinde Test Muhendisligi</a:t>
            </a:r>
            <a:endParaRPr lang="en-US" sz="700" dirty="0"/>
          </a:p>
        </p:txBody>
      </p:sp>
      <p:sp>
        <p:nvSpPr>
          <p:cNvPr id="19" name="Text 16"/>
          <p:cNvSpPr/>
          <p:nvPr/>
        </p:nvSpPr>
        <p:spPr>
          <a:xfrm>
            <a:off x="9235440" y="6510528"/>
            <a:ext cx="2423160" cy="164592"/>
          </a:xfrm>
          <a:prstGeom prst="rect">
            <a:avLst/>
          </a:prstGeom>
          <a:noFill/>
          <a:ln/>
        </p:spPr>
        <p:txBody>
          <a:bodyPr wrap="square" lIns="0" tIns="0" rIns="0" bIns="0" rtlCol="0" anchor="ctr"/>
          <a:lstStyle/>
          <a:p>
            <a:pPr algn="r" indent="0" marL="0">
              <a:buNone/>
            </a:pPr>
            <a:r>
              <a:rPr lang="en-US" sz="700" dirty="0">
                <a:solidFill>
                  <a:srgbClr val="708090"/>
                </a:solidFill>
              </a:rPr>
              <a:t>Talha Ergelen | Osman Cingoz</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563EB"/>
          </a:solidFill>
          <a:ln w="12700">
            <a:solidFill>
              <a:srgbClr val="2563EB"/>
            </a:solidFill>
            <a:prstDash val="solid"/>
          </a:ln>
        </p:spPr>
      </p:sp>
      <p:sp>
        <p:nvSpPr>
          <p:cNvPr id="3" name="Text 1"/>
          <p:cNvSpPr/>
          <p:nvPr/>
        </p:nvSpPr>
        <p:spPr>
          <a:xfrm>
            <a:off x="502920" y="320040"/>
            <a:ext cx="4114800" cy="201168"/>
          </a:xfrm>
          <a:prstGeom prst="rect">
            <a:avLst/>
          </a:prstGeom>
          <a:noFill/>
          <a:ln/>
        </p:spPr>
        <p:txBody>
          <a:bodyPr wrap="square" lIns="0" tIns="0" rIns="0" bIns="0" rtlCol="0" anchor="ctr">
            <a:normAutofit/>
          </a:bodyPr>
          <a:lstStyle/>
          <a:p>
            <a:pPr indent="0" marL="0">
              <a:buNone/>
            </a:pPr>
            <a:r>
              <a:rPr lang="en-US" sz="850" b="1" dirty="0">
                <a:solidFill>
                  <a:srgbClr val="2563EB"/>
                </a:solidFill>
                <a:latin typeface="Aptos" pitchFamily="34" charset="0"/>
                <a:ea typeface="Aptos" pitchFamily="34" charset="-122"/>
                <a:cs typeface="Aptos" pitchFamily="34" charset="-120"/>
              </a:rPr>
              <a:t>6. SAYILAR</a:t>
            </a:r>
            <a:endParaRPr lang="en-US" sz="850" dirty="0"/>
          </a:p>
        </p:txBody>
      </p:sp>
      <p:sp>
        <p:nvSpPr>
          <p:cNvPr id="4" name="Text 2"/>
          <p:cNvSpPr/>
          <p:nvPr/>
        </p:nvSpPr>
        <p:spPr>
          <a:xfrm>
            <a:off x="502920" y="566928"/>
            <a:ext cx="8138160" cy="475488"/>
          </a:xfrm>
          <a:prstGeom prst="rect">
            <a:avLst/>
          </a:prstGeom>
          <a:noFill/>
          <a:ln/>
        </p:spPr>
        <p:txBody>
          <a:bodyPr wrap="square" lIns="0" tIns="0" rIns="0" bIns="0" rtlCol="0" anchor="ctr">
            <a:normAutofit/>
          </a:bodyPr>
          <a:lstStyle/>
          <a:p>
            <a:pPr indent="0" marL="0">
              <a:buNone/>
            </a:pPr>
            <a:r>
              <a:rPr lang="en-US" sz="2500" b="1" dirty="0">
                <a:solidFill>
                  <a:srgbClr val="102033"/>
                </a:solidFill>
                <a:latin typeface="Aptos Display" pitchFamily="34" charset="0"/>
                <a:ea typeface="Aptos Display" pitchFamily="34" charset="-122"/>
                <a:cs typeface="Aptos Display" pitchFamily="34" charset="-120"/>
              </a:rPr>
              <a:t>Projenin teknik kapsami olculebilir metriklerle kanitlandi</a:t>
            </a:r>
            <a:endParaRPr lang="en-US" sz="2500" dirty="0"/>
          </a:p>
        </p:txBody>
      </p:sp>
      <p:sp>
        <p:nvSpPr>
          <p:cNvPr id="5" name="Text 3"/>
          <p:cNvSpPr/>
          <p:nvPr/>
        </p:nvSpPr>
        <p:spPr>
          <a:xfrm>
            <a:off x="11292840" y="384048"/>
            <a:ext cx="384048" cy="228600"/>
          </a:xfrm>
          <a:prstGeom prst="rect">
            <a:avLst/>
          </a:prstGeom>
          <a:solidFill>
            <a:srgbClr val="0F172A"/>
          </a:solidFill>
          <a:ln>
            <a:solidFill>
              <a:srgbClr val="0F172A"/>
            </a:solidFill>
          </a:ln>
        </p:spPr>
        <p:txBody>
          <a:bodyPr wrap="square" lIns="0" tIns="0" rIns="0" bIns="0" rtlCol="0" anchor="ctr"/>
          <a:lstStyle/>
          <a:p>
            <a:pPr algn="ctr" indent="0" marL="0">
              <a:buNone/>
            </a:pPr>
            <a:r>
              <a:rPr lang="en-US" sz="800" b="1" dirty="0">
                <a:solidFill>
                  <a:srgbClr val="FFFFFF"/>
                </a:solidFill>
                <a:latin typeface="Aptos" pitchFamily="34" charset="0"/>
                <a:ea typeface="Aptos" pitchFamily="34" charset="-122"/>
                <a:cs typeface="Aptos" pitchFamily="34" charset="-120"/>
              </a:rPr>
              <a:t>06</a:t>
            </a:r>
            <a:endParaRPr lang="en-US" sz="800" dirty="0"/>
          </a:p>
        </p:txBody>
      </p:sp>
      <p:sp>
        <p:nvSpPr>
          <p:cNvPr id="6" name="Shape 4"/>
          <p:cNvSpPr/>
          <p:nvPr/>
        </p:nvSpPr>
        <p:spPr>
          <a:xfrm>
            <a:off x="685800" y="1325880"/>
            <a:ext cx="2286000" cy="950976"/>
          </a:xfrm>
          <a:prstGeom prst="roundRect">
            <a:avLst>
              <a:gd name="adj" fmla="val 7692"/>
            </a:avLst>
          </a:prstGeom>
          <a:solidFill>
            <a:srgbClr val="FFFFFF"/>
          </a:solidFill>
          <a:ln w="12700">
            <a:solidFill>
              <a:srgbClr val="D9E2EC"/>
            </a:solidFill>
            <a:prstDash val="solid"/>
          </a:ln>
          <a:effectLst>
            <a:outerShdw sx="100000" sy="100000" kx="0" ky="0" algn="bl" rotWithShape="0" blurRad="12700" dist="50800" dir="2700000">
              <a:srgbClr val="CBD5E1">
                <a:alpha val="22000"/>
              </a:srgbClr>
            </a:outerShdw>
          </a:effectLst>
        </p:spPr>
      </p:sp>
      <p:sp>
        <p:nvSpPr>
          <p:cNvPr id="7" name="Text 5"/>
          <p:cNvSpPr/>
          <p:nvPr/>
        </p:nvSpPr>
        <p:spPr>
          <a:xfrm>
            <a:off x="822960" y="1472184"/>
            <a:ext cx="2011680" cy="320040"/>
          </a:xfrm>
          <a:prstGeom prst="rect">
            <a:avLst/>
          </a:prstGeom>
          <a:noFill/>
          <a:ln/>
        </p:spPr>
        <p:txBody>
          <a:bodyPr wrap="square" lIns="0" tIns="0" rIns="0" bIns="0" rtlCol="0" anchor="ctr">
            <a:normAutofit/>
          </a:bodyPr>
          <a:lstStyle/>
          <a:p>
            <a:pPr indent="0" marL="0">
              <a:buNone/>
            </a:pPr>
            <a:r>
              <a:rPr lang="en-US" sz="2400" b="1" dirty="0">
                <a:solidFill>
                  <a:srgbClr val="2563EB"/>
                </a:solidFill>
              </a:rPr>
              <a:t>87 + 8</a:t>
            </a:r>
            <a:endParaRPr lang="en-US" sz="2400" dirty="0"/>
          </a:p>
        </p:txBody>
      </p:sp>
      <p:sp>
        <p:nvSpPr>
          <p:cNvPr id="8" name="Text 6"/>
          <p:cNvSpPr/>
          <p:nvPr/>
        </p:nvSpPr>
        <p:spPr>
          <a:xfrm>
            <a:off x="832104" y="1892808"/>
            <a:ext cx="2011680" cy="182880"/>
          </a:xfrm>
          <a:prstGeom prst="rect">
            <a:avLst/>
          </a:prstGeom>
          <a:noFill/>
          <a:ln/>
        </p:spPr>
        <p:txBody>
          <a:bodyPr wrap="square" lIns="0" tIns="0" rIns="0" bIns="0" rtlCol="0" anchor="ctr">
            <a:normAutofit/>
          </a:bodyPr>
          <a:lstStyle/>
          <a:p>
            <a:pPr indent="0" marL="0">
              <a:buNone/>
            </a:pPr>
            <a:r>
              <a:rPr lang="en-US" sz="850" dirty="0">
                <a:solidFill>
                  <a:srgbClr val="5B6B7D"/>
                </a:solidFill>
              </a:rPr>
              <a:t>pytest + Postman kontrolu</a:t>
            </a:r>
            <a:endParaRPr lang="en-US" sz="850" dirty="0"/>
          </a:p>
        </p:txBody>
      </p:sp>
      <p:sp>
        <p:nvSpPr>
          <p:cNvPr id="9" name="Shape 7"/>
          <p:cNvSpPr/>
          <p:nvPr/>
        </p:nvSpPr>
        <p:spPr>
          <a:xfrm>
            <a:off x="3246120" y="1325880"/>
            <a:ext cx="2011680" cy="950976"/>
          </a:xfrm>
          <a:prstGeom prst="roundRect">
            <a:avLst>
              <a:gd name="adj" fmla="val 7692"/>
            </a:avLst>
          </a:prstGeom>
          <a:solidFill>
            <a:srgbClr val="FFFFFF"/>
          </a:solidFill>
          <a:ln w="12700">
            <a:solidFill>
              <a:srgbClr val="D9E2EC"/>
            </a:solidFill>
            <a:prstDash val="solid"/>
          </a:ln>
          <a:effectLst>
            <a:outerShdw sx="100000" sy="100000" kx="0" ky="0" algn="bl" rotWithShape="0" blurRad="12700" dist="50800" dir="2700000">
              <a:srgbClr val="CBD5E1">
                <a:alpha val="22000"/>
              </a:srgbClr>
            </a:outerShdw>
          </a:effectLst>
        </p:spPr>
      </p:sp>
      <p:sp>
        <p:nvSpPr>
          <p:cNvPr id="10" name="Text 8"/>
          <p:cNvSpPr/>
          <p:nvPr/>
        </p:nvSpPr>
        <p:spPr>
          <a:xfrm>
            <a:off x="3383280" y="1472184"/>
            <a:ext cx="1737360" cy="320040"/>
          </a:xfrm>
          <a:prstGeom prst="rect">
            <a:avLst/>
          </a:prstGeom>
          <a:noFill/>
          <a:ln/>
        </p:spPr>
        <p:txBody>
          <a:bodyPr wrap="square" lIns="0" tIns="0" rIns="0" bIns="0" rtlCol="0" anchor="ctr">
            <a:normAutofit/>
          </a:bodyPr>
          <a:lstStyle/>
          <a:p>
            <a:pPr indent="0" marL="0">
              <a:buNone/>
            </a:pPr>
            <a:r>
              <a:rPr lang="en-US" sz="2400" b="1" dirty="0">
                <a:solidFill>
                  <a:srgbClr val="059669"/>
                </a:solidFill>
              </a:rPr>
              <a:t>%90</a:t>
            </a:r>
            <a:endParaRPr lang="en-US" sz="2400" dirty="0"/>
          </a:p>
        </p:txBody>
      </p:sp>
      <p:sp>
        <p:nvSpPr>
          <p:cNvPr id="11" name="Text 9"/>
          <p:cNvSpPr/>
          <p:nvPr/>
        </p:nvSpPr>
        <p:spPr>
          <a:xfrm>
            <a:off x="3392424" y="1892808"/>
            <a:ext cx="1737360" cy="182880"/>
          </a:xfrm>
          <a:prstGeom prst="rect">
            <a:avLst/>
          </a:prstGeom>
          <a:noFill/>
          <a:ln/>
        </p:spPr>
        <p:txBody>
          <a:bodyPr wrap="square" lIns="0" tIns="0" rIns="0" bIns="0" rtlCol="0" anchor="ctr">
            <a:normAutofit/>
          </a:bodyPr>
          <a:lstStyle/>
          <a:p>
            <a:pPr indent="0" marL="0">
              <a:buNone/>
            </a:pPr>
            <a:r>
              <a:rPr lang="en-US" sz="850" dirty="0">
                <a:solidFill>
                  <a:srgbClr val="5B6B7D"/>
                </a:solidFill>
              </a:rPr>
              <a:t>yaklasik coverage</a:t>
            </a:r>
            <a:endParaRPr lang="en-US" sz="850" dirty="0"/>
          </a:p>
        </p:txBody>
      </p:sp>
      <p:sp>
        <p:nvSpPr>
          <p:cNvPr id="12" name="Shape 10"/>
          <p:cNvSpPr/>
          <p:nvPr/>
        </p:nvSpPr>
        <p:spPr>
          <a:xfrm>
            <a:off x="5532120" y="1325880"/>
            <a:ext cx="2011680" cy="950976"/>
          </a:xfrm>
          <a:prstGeom prst="roundRect">
            <a:avLst>
              <a:gd name="adj" fmla="val 7692"/>
            </a:avLst>
          </a:prstGeom>
          <a:solidFill>
            <a:srgbClr val="FFFFFF"/>
          </a:solidFill>
          <a:ln w="12700">
            <a:solidFill>
              <a:srgbClr val="D9E2EC"/>
            </a:solidFill>
            <a:prstDash val="solid"/>
          </a:ln>
          <a:effectLst>
            <a:outerShdw sx="100000" sy="100000" kx="0" ky="0" algn="bl" rotWithShape="0" blurRad="12700" dist="50800" dir="2700000">
              <a:srgbClr val="CBD5E1">
                <a:alpha val="22000"/>
              </a:srgbClr>
            </a:outerShdw>
          </a:effectLst>
        </p:spPr>
      </p:sp>
      <p:sp>
        <p:nvSpPr>
          <p:cNvPr id="13" name="Text 11"/>
          <p:cNvSpPr/>
          <p:nvPr/>
        </p:nvSpPr>
        <p:spPr>
          <a:xfrm>
            <a:off x="5669280" y="1472184"/>
            <a:ext cx="1737360" cy="320040"/>
          </a:xfrm>
          <a:prstGeom prst="rect">
            <a:avLst/>
          </a:prstGeom>
          <a:noFill/>
          <a:ln/>
        </p:spPr>
        <p:txBody>
          <a:bodyPr wrap="square" lIns="0" tIns="0" rIns="0" bIns="0" rtlCol="0" anchor="ctr">
            <a:normAutofit/>
          </a:bodyPr>
          <a:lstStyle/>
          <a:p>
            <a:pPr indent="0" marL="0">
              <a:buNone/>
            </a:pPr>
            <a:r>
              <a:rPr lang="en-US" sz="2400" b="1" dirty="0">
                <a:solidFill>
                  <a:srgbClr val="0891B2"/>
                </a:solidFill>
              </a:rPr>
              <a:t>87 ms</a:t>
            </a:r>
            <a:endParaRPr lang="en-US" sz="2400" dirty="0"/>
          </a:p>
        </p:txBody>
      </p:sp>
      <p:sp>
        <p:nvSpPr>
          <p:cNvPr id="14" name="Text 12"/>
          <p:cNvSpPr/>
          <p:nvPr/>
        </p:nvSpPr>
        <p:spPr>
          <a:xfrm>
            <a:off x="5678424" y="1892808"/>
            <a:ext cx="1737360" cy="182880"/>
          </a:xfrm>
          <a:prstGeom prst="rect">
            <a:avLst/>
          </a:prstGeom>
          <a:noFill/>
          <a:ln/>
        </p:spPr>
        <p:txBody>
          <a:bodyPr wrap="square" lIns="0" tIns="0" rIns="0" bIns="0" rtlCol="0" anchor="ctr">
            <a:normAutofit/>
          </a:bodyPr>
          <a:lstStyle/>
          <a:p>
            <a:pPr indent="0" marL="0">
              <a:buNone/>
            </a:pPr>
            <a:r>
              <a:rPr lang="en-US" sz="850" dirty="0">
                <a:solidFill>
                  <a:srgbClr val="5B6B7D"/>
                </a:solidFill>
              </a:rPr>
              <a:t>k6 p95 latency</a:t>
            </a:r>
            <a:endParaRPr lang="en-US" sz="850" dirty="0"/>
          </a:p>
        </p:txBody>
      </p:sp>
      <p:sp>
        <p:nvSpPr>
          <p:cNvPr id="15" name="Shape 13"/>
          <p:cNvSpPr/>
          <p:nvPr/>
        </p:nvSpPr>
        <p:spPr>
          <a:xfrm>
            <a:off x="7818120" y="1325880"/>
            <a:ext cx="1828800" cy="950976"/>
          </a:xfrm>
          <a:prstGeom prst="roundRect">
            <a:avLst>
              <a:gd name="adj" fmla="val 7692"/>
            </a:avLst>
          </a:prstGeom>
          <a:solidFill>
            <a:srgbClr val="FFFFFF"/>
          </a:solidFill>
          <a:ln w="12700">
            <a:solidFill>
              <a:srgbClr val="D9E2EC"/>
            </a:solidFill>
            <a:prstDash val="solid"/>
          </a:ln>
          <a:effectLst>
            <a:outerShdw sx="100000" sy="100000" kx="0" ky="0" algn="bl" rotWithShape="0" blurRad="12700" dist="50800" dir="2700000">
              <a:srgbClr val="CBD5E1">
                <a:alpha val="22000"/>
              </a:srgbClr>
            </a:outerShdw>
          </a:effectLst>
        </p:spPr>
      </p:sp>
      <p:sp>
        <p:nvSpPr>
          <p:cNvPr id="16" name="Text 14"/>
          <p:cNvSpPr/>
          <p:nvPr/>
        </p:nvSpPr>
        <p:spPr>
          <a:xfrm>
            <a:off x="7955280" y="1472184"/>
            <a:ext cx="1554480" cy="320040"/>
          </a:xfrm>
          <a:prstGeom prst="rect">
            <a:avLst/>
          </a:prstGeom>
          <a:noFill/>
          <a:ln/>
        </p:spPr>
        <p:txBody>
          <a:bodyPr wrap="square" lIns="0" tIns="0" rIns="0" bIns="0" rtlCol="0" anchor="ctr">
            <a:normAutofit/>
          </a:bodyPr>
          <a:lstStyle/>
          <a:p>
            <a:pPr indent="0" marL="0">
              <a:buNone/>
            </a:pPr>
            <a:r>
              <a:rPr lang="en-US" sz="2400" b="1" dirty="0">
                <a:solidFill>
                  <a:srgbClr val="D97706"/>
                </a:solidFill>
              </a:rPr>
              <a:t>0.42%</a:t>
            </a:r>
            <a:endParaRPr lang="en-US" sz="2400" dirty="0"/>
          </a:p>
        </p:txBody>
      </p:sp>
      <p:sp>
        <p:nvSpPr>
          <p:cNvPr id="17" name="Text 15"/>
          <p:cNvSpPr/>
          <p:nvPr/>
        </p:nvSpPr>
        <p:spPr>
          <a:xfrm>
            <a:off x="7964424" y="1892808"/>
            <a:ext cx="1554480" cy="182880"/>
          </a:xfrm>
          <a:prstGeom prst="rect">
            <a:avLst/>
          </a:prstGeom>
          <a:noFill/>
          <a:ln/>
        </p:spPr>
        <p:txBody>
          <a:bodyPr wrap="square" lIns="0" tIns="0" rIns="0" bIns="0" rtlCol="0" anchor="ctr">
            <a:normAutofit/>
          </a:bodyPr>
          <a:lstStyle/>
          <a:p>
            <a:pPr indent="0" marL="0">
              <a:buNone/>
            </a:pPr>
            <a:r>
              <a:rPr lang="en-US" sz="850" dirty="0">
                <a:solidFill>
                  <a:srgbClr val="5B6B7D"/>
                </a:solidFill>
              </a:rPr>
              <a:t>k6 hata orani</a:t>
            </a:r>
            <a:endParaRPr lang="en-US" sz="850" dirty="0"/>
          </a:p>
        </p:txBody>
      </p:sp>
      <p:sp>
        <p:nvSpPr>
          <p:cNvPr id="18" name="Shape 16"/>
          <p:cNvSpPr/>
          <p:nvPr/>
        </p:nvSpPr>
        <p:spPr>
          <a:xfrm>
            <a:off x="9921240" y="1325880"/>
            <a:ext cx="1600200" cy="950976"/>
          </a:xfrm>
          <a:prstGeom prst="roundRect">
            <a:avLst>
              <a:gd name="adj" fmla="val 7692"/>
            </a:avLst>
          </a:prstGeom>
          <a:solidFill>
            <a:srgbClr val="FFFFFF"/>
          </a:solidFill>
          <a:ln w="12700">
            <a:solidFill>
              <a:srgbClr val="D9E2EC"/>
            </a:solidFill>
            <a:prstDash val="solid"/>
          </a:ln>
          <a:effectLst>
            <a:outerShdw sx="100000" sy="100000" kx="0" ky="0" algn="bl" rotWithShape="0" blurRad="12700" dist="50800" dir="2700000">
              <a:srgbClr val="CBD5E1">
                <a:alpha val="22000"/>
              </a:srgbClr>
            </a:outerShdw>
          </a:effectLst>
        </p:spPr>
      </p:sp>
      <p:sp>
        <p:nvSpPr>
          <p:cNvPr id="19" name="Text 17"/>
          <p:cNvSpPr/>
          <p:nvPr/>
        </p:nvSpPr>
        <p:spPr>
          <a:xfrm>
            <a:off x="10058400" y="1472184"/>
            <a:ext cx="1325880" cy="320040"/>
          </a:xfrm>
          <a:prstGeom prst="rect">
            <a:avLst/>
          </a:prstGeom>
          <a:noFill/>
          <a:ln/>
        </p:spPr>
        <p:txBody>
          <a:bodyPr wrap="square" lIns="0" tIns="0" rIns="0" bIns="0" rtlCol="0" anchor="ctr">
            <a:normAutofit/>
          </a:bodyPr>
          <a:lstStyle/>
          <a:p>
            <a:pPr indent="0" marL="0">
              <a:buNone/>
            </a:pPr>
            <a:r>
              <a:rPr lang="en-US" sz="2400" b="1" dirty="0">
                <a:solidFill>
                  <a:srgbClr val="6D28D9"/>
                </a:solidFill>
              </a:rPr>
              <a:t>7 job</a:t>
            </a:r>
            <a:endParaRPr lang="en-US" sz="2400" dirty="0"/>
          </a:p>
        </p:txBody>
      </p:sp>
      <p:sp>
        <p:nvSpPr>
          <p:cNvPr id="20" name="Text 18"/>
          <p:cNvSpPr/>
          <p:nvPr/>
        </p:nvSpPr>
        <p:spPr>
          <a:xfrm>
            <a:off x="10067544" y="1892808"/>
            <a:ext cx="1325880" cy="182880"/>
          </a:xfrm>
          <a:prstGeom prst="rect">
            <a:avLst/>
          </a:prstGeom>
          <a:noFill/>
          <a:ln/>
        </p:spPr>
        <p:txBody>
          <a:bodyPr wrap="square" lIns="0" tIns="0" rIns="0" bIns="0" rtlCol="0" anchor="ctr">
            <a:normAutofit/>
          </a:bodyPr>
          <a:lstStyle/>
          <a:p>
            <a:pPr indent="0" marL="0">
              <a:buNone/>
            </a:pPr>
            <a:r>
              <a:rPr lang="en-US" sz="850" dirty="0">
                <a:solidFill>
                  <a:srgbClr val="5B6B7D"/>
                </a:solidFill>
              </a:rPr>
              <a:t>CI/CD pipeline</a:t>
            </a:r>
            <a:endParaRPr lang="en-US" sz="850" dirty="0"/>
          </a:p>
        </p:txBody>
      </p:sp>
      <p:sp>
        <p:nvSpPr>
          <p:cNvPr id="21" name="Shape 19"/>
          <p:cNvSpPr/>
          <p:nvPr/>
        </p:nvSpPr>
        <p:spPr>
          <a:xfrm>
            <a:off x="685800" y="2743200"/>
            <a:ext cx="5166360" cy="2606040"/>
          </a:xfrm>
          <a:prstGeom prst="roundRect">
            <a:avLst>
              <a:gd name="adj" fmla="val 2807"/>
            </a:avLst>
          </a:prstGeom>
          <a:solidFill>
            <a:srgbClr val="FFFFFF"/>
          </a:solidFill>
          <a:ln w="12700">
            <a:solidFill>
              <a:srgbClr val="D9E2EC"/>
            </a:solidFill>
            <a:prstDash val="solid"/>
          </a:ln>
          <a:effectLst>
            <a:outerShdw sx="100000" sy="100000" kx="0" ky="0" algn="bl" rotWithShape="0" blurRad="12700" dist="50800" dir="2700000">
              <a:srgbClr val="CBD5E1">
                <a:alpha val="22000"/>
              </a:srgbClr>
            </a:outerShdw>
          </a:effectLst>
        </p:spPr>
      </p:sp>
      <p:sp>
        <p:nvSpPr>
          <p:cNvPr id="22" name="Text 20"/>
          <p:cNvSpPr/>
          <p:nvPr/>
        </p:nvSpPr>
        <p:spPr>
          <a:xfrm>
            <a:off x="960120" y="3063240"/>
            <a:ext cx="1828800" cy="182880"/>
          </a:xfrm>
          <a:prstGeom prst="rect">
            <a:avLst/>
          </a:prstGeom>
          <a:noFill/>
          <a:ln/>
        </p:spPr>
        <p:txBody>
          <a:bodyPr wrap="square" lIns="0" tIns="0" rIns="0" bIns="0" rtlCol="0" anchor="ctr">
            <a:normAutofit/>
          </a:bodyPr>
          <a:lstStyle/>
          <a:p>
            <a:pPr indent="0" marL="0">
              <a:buNone/>
            </a:pPr>
            <a:r>
              <a:rPr lang="en-US" sz="750" b="1" dirty="0">
                <a:solidFill>
                  <a:srgbClr val="0891B2"/>
                </a:solidFill>
              </a:rPr>
              <a:t>PERFORMANS OZET</a:t>
            </a:r>
            <a:endParaRPr lang="en-US" sz="750" dirty="0"/>
          </a:p>
        </p:txBody>
      </p:sp>
      <p:sp>
        <p:nvSpPr>
          <p:cNvPr id="23" name="Text 21"/>
          <p:cNvSpPr/>
          <p:nvPr/>
        </p:nvSpPr>
        <p:spPr>
          <a:xfrm>
            <a:off x="960120" y="3401568"/>
            <a:ext cx="4297680" cy="1325880"/>
          </a:xfrm>
          <a:prstGeom prst="rect">
            <a:avLst/>
          </a:prstGeom>
          <a:noFill/>
          <a:ln/>
        </p:spPr>
        <p:txBody>
          <a:bodyPr wrap="square" lIns="508" tIns="508" rIns="508" bIns="508" rtlCol="0" anchor="t">
            <a:normAutofit/>
          </a:bodyPr>
          <a:lstStyle/>
          <a:p>
            <a:pPr indent="0" marL="0">
              <a:buNone/>
            </a:pPr>
            <a:r>
              <a:rPr lang="en-US" sz="1300" dirty="0">
                <a:solidFill>
                  <a:srgbClr val="102033"/>
                </a:solidFill>
                <a:latin typeface="Aptos" pitchFamily="34" charset="0"/>
                <a:ea typeface="Aptos" pitchFamily="34" charset="-122"/>
                <a:cs typeface="Aptos" pitchFamily="34" charset="-120"/>
              </a:rPr>
              <a:t>Yuk profili: 0 -&gt; 100 sanal kullanici</a:t>
            </a:r>
            <a:endParaRPr lang="en-US" sz="1300" dirty="0"/>
          </a:p>
          <a:p>
            <a:pPr indent="0" marL="0">
              <a:buNone/>
            </a:pPr>
            <a:r>
              <a:rPr lang="en-US" sz="1300" dirty="0">
                <a:solidFill>
                  <a:srgbClr val="102033"/>
                </a:solidFill>
                <a:latin typeface="Aptos" pitchFamily="34" charset="0"/>
                <a:ea typeface="Aptos" pitchFamily="34" charset="-122"/>
                <a:cs typeface="Aptos" pitchFamily="34" charset="-120"/>
              </a:rPr>
              <a:t>Toplam istek: 14.832</a:t>
            </a:r>
            <a:endParaRPr lang="en-US" sz="1300" dirty="0"/>
          </a:p>
          <a:p>
            <a:pPr indent="0" marL="0">
              <a:buNone/>
            </a:pPr>
            <a:r>
              <a:rPr lang="en-US" sz="1300" dirty="0">
                <a:solidFill>
                  <a:srgbClr val="102033"/>
                </a:solidFill>
                <a:latin typeface="Aptos" pitchFamily="34" charset="0"/>
                <a:ea typeface="Aptos" pitchFamily="34" charset="-122"/>
                <a:cs typeface="Aptos" pitchFamily="34" charset="-120"/>
              </a:rPr>
              <a:t>RPS: 98.9 req/s</a:t>
            </a:r>
            <a:endParaRPr lang="en-US" sz="1300" dirty="0"/>
          </a:p>
          <a:p>
            <a:pPr indent="0" marL="0">
              <a:buNone/>
            </a:pPr>
            <a:r>
              <a:rPr lang="en-US" sz="1300" dirty="0">
                <a:solidFill>
                  <a:srgbClr val="102033"/>
                </a:solidFill>
                <a:latin typeface="Aptos" pitchFamily="34" charset="0"/>
                <a:ea typeface="Aptos" pitchFamily="34" charset="-122"/>
                <a:cs typeface="Aptos" pitchFamily="34" charset="-120"/>
              </a:rPr>
              <a:t>Hedef: p95 &lt; 500 ms</a:t>
            </a:r>
            <a:endParaRPr lang="en-US" sz="1300" dirty="0"/>
          </a:p>
          <a:p>
            <a:pPr indent="0" marL="0">
              <a:buNone/>
            </a:pPr>
            <a:r>
              <a:rPr lang="en-US" sz="1300" dirty="0">
                <a:solidFill>
                  <a:srgbClr val="102033"/>
                </a:solidFill>
                <a:latin typeface="Aptos" pitchFamily="34" charset="0"/>
                <a:ea typeface="Aptos" pitchFamily="34" charset="-122"/>
                <a:cs typeface="Aptos" pitchFamily="34" charset="-120"/>
              </a:rPr>
              <a:t>Sonuc: p95 = 87 ms</a:t>
            </a:r>
            <a:endParaRPr lang="en-US" sz="1300" dirty="0"/>
          </a:p>
        </p:txBody>
      </p:sp>
      <p:sp>
        <p:nvSpPr>
          <p:cNvPr id="24" name="Shape 22"/>
          <p:cNvSpPr/>
          <p:nvPr/>
        </p:nvSpPr>
        <p:spPr>
          <a:xfrm>
            <a:off x="6172200" y="2743200"/>
            <a:ext cx="5166360" cy="2606040"/>
          </a:xfrm>
          <a:prstGeom prst="roundRect">
            <a:avLst>
              <a:gd name="adj" fmla="val 2807"/>
            </a:avLst>
          </a:prstGeom>
          <a:solidFill>
            <a:srgbClr val="FFFFFF"/>
          </a:solidFill>
          <a:ln w="12700">
            <a:solidFill>
              <a:srgbClr val="D9E2EC"/>
            </a:solidFill>
            <a:prstDash val="solid"/>
          </a:ln>
          <a:effectLst>
            <a:outerShdw sx="100000" sy="100000" kx="0" ky="0" algn="bl" rotWithShape="0" blurRad="12700" dist="50800" dir="2700000">
              <a:srgbClr val="CBD5E1">
                <a:alpha val="22000"/>
              </a:srgbClr>
            </a:outerShdw>
          </a:effectLst>
        </p:spPr>
      </p:sp>
      <p:sp>
        <p:nvSpPr>
          <p:cNvPr id="25" name="Text 23"/>
          <p:cNvSpPr/>
          <p:nvPr/>
        </p:nvSpPr>
        <p:spPr>
          <a:xfrm>
            <a:off x="6446520" y="3063240"/>
            <a:ext cx="1554480" cy="182880"/>
          </a:xfrm>
          <a:prstGeom prst="rect">
            <a:avLst/>
          </a:prstGeom>
          <a:noFill/>
          <a:ln/>
        </p:spPr>
        <p:txBody>
          <a:bodyPr wrap="square" lIns="0" tIns="0" rIns="0" bIns="0" rtlCol="0" anchor="ctr">
            <a:normAutofit/>
          </a:bodyPr>
          <a:lstStyle/>
          <a:p>
            <a:pPr indent="0" marL="0">
              <a:buNone/>
            </a:pPr>
            <a:r>
              <a:rPr lang="en-US" sz="750" b="1" dirty="0">
                <a:solidFill>
                  <a:srgbClr val="2563EB"/>
                </a:solidFill>
              </a:rPr>
              <a:t>TESLIM KAPSAMI</a:t>
            </a:r>
            <a:endParaRPr lang="en-US" sz="750" dirty="0"/>
          </a:p>
        </p:txBody>
      </p:sp>
      <p:sp>
        <p:nvSpPr>
          <p:cNvPr id="26" name="Text 24"/>
          <p:cNvSpPr/>
          <p:nvPr/>
        </p:nvSpPr>
        <p:spPr>
          <a:xfrm>
            <a:off x="6446520" y="3401568"/>
            <a:ext cx="4297680" cy="1325880"/>
          </a:xfrm>
          <a:prstGeom prst="rect">
            <a:avLst/>
          </a:prstGeom>
          <a:noFill/>
          <a:ln/>
        </p:spPr>
        <p:txBody>
          <a:bodyPr wrap="square" lIns="508" tIns="508" rIns="508" bIns="508" rtlCol="0" anchor="t">
            <a:normAutofit/>
          </a:bodyPr>
          <a:lstStyle/>
          <a:p>
            <a:pPr indent="0" marL="0">
              <a:buNone/>
            </a:pPr>
            <a:r>
              <a:rPr lang="en-US" sz="1270" dirty="0">
                <a:solidFill>
                  <a:srgbClr val="102033"/>
                </a:solidFill>
                <a:latin typeface="Aptos" pitchFamily="34" charset="0"/>
                <a:ea typeface="Aptos" pitchFamily="34" charset="-122"/>
                <a:cs typeface="Aptos" pitchFamily="34" charset="-120"/>
              </a:rPr>
              <a:t>8 REST endpoint</a:t>
            </a:r>
            <a:endParaRPr lang="en-US" sz="1270" dirty="0"/>
          </a:p>
          <a:p>
            <a:pPr indent="0" marL="0">
              <a:buNone/>
            </a:pPr>
            <a:r>
              <a:rPr lang="en-US" sz="1270" dirty="0">
                <a:solidFill>
                  <a:srgbClr val="102033"/>
                </a:solidFill>
                <a:latin typeface="Aptos" pitchFamily="34" charset="0"/>
                <a:ea typeface="Aptos" pitchFamily="34" charset="-122"/>
                <a:cs typeface="Aptos" pitchFamily="34" charset="-120"/>
              </a:rPr>
              <a:t>2 entity: URL + Click</a:t>
            </a:r>
            <a:endParaRPr lang="en-US" sz="1270" dirty="0"/>
          </a:p>
          <a:p>
            <a:pPr indent="0" marL="0">
              <a:buNone/>
            </a:pPr>
            <a:r>
              <a:rPr lang="en-US" sz="1270" dirty="0">
                <a:solidFill>
                  <a:srgbClr val="102033"/>
                </a:solidFill>
                <a:latin typeface="Aptos" pitchFamily="34" charset="0"/>
                <a:ea typeface="Aptos" pitchFamily="34" charset="-122"/>
                <a:cs typeface="Aptos" pitchFamily="34" charset="-120"/>
              </a:rPr>
              <a:t>Docker multi-stage image</a:t>
            </a:r>
            <a:endParaRPr lang="en-US" sz="1270" dirty="0"/>
          </a:p>
          <a:p>
            <a:pPr indent="0" marL="0">
              <a:buNone/>
            </a:pPr>
            <a:r>
              <a:rPr lang="en-US" sz="1270" dirty="0">
                <a:solidFill>
                  <a:srgbClr val="102033"/>
                </a:solidFill>
                <a:latin typeface="Aptos" pitchFamily="34" charset="0"/>
                <a:ea typeface="Aptos" pitchFamily="34" charset="-122"/>
                <a:cs typeface="Aptos" pitchFamily="34" charset="-120"/>
              </a:rPr>
              <a:t>Kubernetes Deployment + Service + ConfigMap</a:t>
            </a:r>
            <a:endParaRPr lang="en-US" sz="1270" dirty="0"/>
          </a:p>
          <a:p>
            <a:pPr indent="0" marL="0">
              <a:buNone/>
            </a:pPr>
            <a:r>
              <a:rPr lang="en-US" sz="1270" dirty="0">
                <a:solidFill>
                  <a:srgbClr val="102033"/>
                </a:solidFill>
                <a:latin typeface="Aptos" pitchFamily="34" charset="0"/>
                <a:ea typeface="Aptos" pitchFamily="34" charset="-122"/>
                <a:cs typeface="Aptos" pitchFamily="34" charset="-120"/>
              </a:rPr>
              <a:t>Bonus: Helm, KEDA, ArgoCD, OpenTelemetry</a:t>
            </a:r>
            <a:endParaRPr lang="en-US" sz="1270" dirty="0"/>
          </a:p>
        </p:txBody>
      </p:sp>
      <p:sp>
        <p:nvSpPr>
          <p:cNvPr id="27" name="Shape 25"/>
          <p:cNvSpPr/>
          <p:nvPr/>
        </p:nvSpPr>
        <p:spPr>
          <a:xfrm>
            <a:off x="777240" y="5504688"/>
            <a:ext cx="10469880" cy="786384"/>
          </a:xfrm>
          <a:prstGeom prst="roundRect">
            <a:avLst>
              <a:gd name="adj" fmla="val 5814"/>
            </a:avLst>
          </a:prstGeom>
          <a:solidFill>
            <a:srgbClr val="FFFFFF"/>
          </a:solidFill>
          <a:ln w="13970">
            <a:solidFill>
              <a:srgbClr val="059669">
                <a:alpha val="82000"/>
              </a:srgbClr>
            </a:solidFill>
            <a:prstDash val="solid"/>
          </a:ln>
          <a:effectLst>
            <a:outerShdw sx="100000" sy="100000" kx="0" ky="0" algn="bl" rotWithShape="0" blurRad="12700" dist="50800" dir="2700000">
              <a:srgbClr val="CBD5E1">
                <a:alpha val="18000"/>
              </a:srgbClr>
            </a:outerShdw>
          </a:effectLst>
        </p:spPr>
      </p:sp>
      <p:sp>
        <p:nvSpPr>
          <p:cNvPr id="28" name="Shape 26"/>
          <p:cNvSpPr/>
          <p:nvPr/>
        </p:nvSpPr>
        <p:spPr>
          <a:xfrm>
            <a:off x="777240" y="5504688"/>
            <a:ext cx="73152" cy="786384"/>
          </a:xfrm>
          <a:prstGeom prst="rect">
            <a:avLst/>
          </a:prstGeom>
          <a:solidFill>
            <a:srgbClr val="059669"/>
          </a:solidFill>
          <a:ln w="12700">
            <a:solidFill>
              <a:srgbClr val="059669"/>
            </a:solidFill>
            <a:prstDash val="solid"/>
          </a:ln>
        </p:spPr>
      </p:sp>
      <p:sp>
        <p:nvSpPr>
          <p:cNvPr id="29" name="Text 27"/>
          <p:cNvSpPr/>
          <p:nvPr/>
        </p:nvSpPr>
        <p:spPr>
          <a:xfrm>
            <a:off x="978408" y="5632704"/>
            <a:ext cx="10085832" cy="146304"/>
          </a:xfrm>
          <a:prstGeom prst="rect">
            <a:avLst/>
          </a:prstGeom>
          <a:noFill/>
          <a:ln/>
        </p:spPr>
        <p:txBody>
          <a:bodyPr wrap="square" lIns="0" tIns="0" rIns="0" bIns="0" rtlCol="0" anchor="ctr">
            <a:normAutofit/>
          </a:bodyPr>
          <a:lstStyle/>
          <a:p>
            <a:pPr indent="0" marL="0">
              <a:buNone/>
            </a:pPr>
            <a:r>
              <a:rPr lang="en-US" sz="750" b="1" dirty="0">
                <a:solidFill>
                  <a:srgbClr val="059669"/>
                </a:solidFill>
              </a:rPr>
              <a:t>SAYILARI OKU</a:t>
            </a:r>
            <a:endParaRPr lang="en-US" sz="750" dirty="0"/>
          </a:p>
        </p:txBody>
      </p:sp>
      <p:sp>
        <p:nvSpPr>
          <p:cNvPr id="30" name="Text 28"/>
          <p:cNvSpPr/>
          <p:nvPr/>
        </p:nvSpPr>
        <p:spPr>
          <a:xfrm>
            <a:off x="978408" y="5861304"/>
            <a:ext cx="10085832" cy="310896"/>
          </a:xfrm>
          <a:prstGeom prst="rect">
            <a:avLst/>
          </a:prstGeom>
          <a:noFill/>
          <a:ln/>
        </p:spPr>
        <p:txBody>
          <a:bodyPr wrap="square" lIns="254" tIns="254" rIns="254" bIns="254" rtlCol="0" anchor="t">
            <a:normAutofit/>
          </a:bodyPr>
          <a:lstStyle/>
          <a:p>
            <a:pPr indent="0" marL="0">
              <a:buNone/>
            </a:pPr>
            <a:r>
              <a:rPr lang="en-US" sz="940" dirty="0">
                <a:solidFill>
                  <a:srgbClr val="102033"/>
                </a:solidFill>
              </a:rPr>
              <a:t>Projede 87 Pytest test fonksiyonu ve 8 Postman isteği bulunuyor. Şartname coverage için en az %70 istiyordu; bizim sonuçlarımız yaklaşık %90 seviyesinde. k6 performans testinde p95 latency 87 ms, hata oranı %0.42 çıktı. CI/CD tarafında lint, test, Postman, Docker build, Kubernetes deploy, smoke ve E2E olmak üzere 7 job'lık otomatik akış kuruldu.</a:t>
            </a:r>
            <a:endParaRPr lang="en-US" sz="940" dirty="0"/>
          </a:p>
        </p:txBody>
      </p:sp>
      <p:sp>
        <p:nvSpPr>
          <p:cNvPr id="32" name="Text 29"/>
          <p:cNvSpPr/>
          <p:nvPr/>
        </p:nvSpPr>
        <p:spPr>
          <a:xfrm>
            <a:off x="502920" y="6510528"/>
            <a:ext cx="5212080" cy="164592"/>
          </a:xfrm>
          <a:prstGeom prst="rect">
            <a:avLst/>
          </a:prstGeom>
          <a:noFill/>
          <a:ln/>
        </p:spPr>
        <p:txBody>
          <a:bodyPr wrap="square" lIns="0" tIns="0" rIns="0" bIns="0" rtlCol="0" anchor="ctr"/>
          <a:lstStyle/>
          <a:p>
            <a:pPr indent="0" marL="0">
              <a:buNone/>
            </a:pPr>
            <a:r>
              <a:rPr lang="en-US" sz="700" dirty="0">
                <a:solidFill>
                  <a:srgbClr val="708090"/>
                </a:solidFill>
              </a:rPr>
              <a:t>URL Shortener Service | Bulut Mimarilerinde Test Muhendisligi</a:t>
            </a:r>
            <a:endParaRPr lang="en-US" sz="700" dirty="0"/>
          </a:p>
        </p:txBody>
      </p:sp>
      <p:sp>
        <p:nvSpPr>
          <p:cNvPr id="33" name="Text 30"/>
          <p:cNvSpPr/>
          <p:nvPr/>
        </p:nvSpPr>
        <p:spPr>
          <a:xfrm>
            <a:off x="9235440" y="6510528"/>
            <a:ext cx="2423160" cy="164592"/>
          </a:xfrm>
          <a:prstGeom prst="rect">
            <a:avLst/>
          </a:prstGeom>
          <a:noFill/>
          <a:ln/>
        </p:spPr>
        <p:txBody>
          <a:bodyPr wrap="square" lIns="0" tIns="0" rIns="0" bIns="0" rtlCol="0" anchor="ctr"/>
          <a:lstStyle/>
          <a:p>
            <a:pPr algn="r" indent="0" marL="0">
              <a:buNone/>
            </a:pPr>
            <a:r>
              <a:rPr lang="en-US" sz="700" dirty="0">
                <a:solidFill>
                  <a:srgbClr val="708090"/>
                </a:solidFill>
              </a:rPr>
              <a:t>Talha Ergelen | Osman Cingoz</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2563EB"/>
          </a:solidFill>
          <a:ln w="12700">
            <a:solidFill>
              <a:srgbClr val="2563EB"/>
            </a:solidFill>
            <a:prstDash val="solid"/>
          </a:ln>
        </p:spPr>
      </p:sp>
      <p:sp>
        <p:nvSpPr>
          <p:cNvPr id="3" name="Text 1"/>
          <p:cNvSpPr/>
          <p:nvPr/>
        </p:nvSpPr>
        <p:spPr>
          <a:xfrm>
            <a:off x="502920" y="320040"/>
            <a:ext cx="4114800" cy="201168"/>
          </a:xfrm>
          <a:prstGeom prst="rect">
            <a:avLst/>
          </a:prstGeom>
          <a:noFill/>
          <a:ln/>
        </p:spPr>
        <p:txBody>
          <a:bodyPr wrap="square" lIns="0" tIns="0" rIns="0" bIns="0" rtlCol="0" anchor="ctr">
            <a:normAutofit/>
          </a:bodyPr>
          <a:lstStyle/>
          <a:p>
            <a:pPr indent="0" marL="0">
              <a:buNone/>
            </a:pPr>
            <a:r>
              <a:rPr lang="en-US" sz="850" b="1" dirty="0">
                <a:solidFill>
                  <a:srgbClr val="2563EB"/>
                </a:solidFill>
                <a:latin typeface="Aptos" pitchFamily="34" charset="0"/>
                <a:ea typeface="Aptos" pitchFamily="34" charset="-122"/>
                <a:cs typeface="Aptos" pitchFamily="34" charset="-120"/>
              </a:rPr>
              <a:t>7. OGRENDIKLERIM &amp; ZORLUKLAR</a:t>
            </a:r>
            <a:endParaRPr lang="en-US" sz="850" dirty="0"/>
          </a:p>
        </p:txBody>
      </p:sp>
      <p:sp>
        <p:nvSpPr>
          <p:cNvPr id="4" name="Text 2"/>
          <p:cNvSpPr/>
          <p:nvPr/>
        </p:nvSpPr>
        <p:spPr>
          <a:xfrm>
            <a:off x="502920" y="566928"/>
            <a:ext cx="8138160" cy="475488"/>
          </a:xfrm>
          <a:prstGeom prst="rect">
            <a:avLst/>
          </a:prstGeom>
          <a:noFill/>
          <a:ln/>
        </p:spPr>
        <p:txBody>
          <a:bodyPr wrap="square" lIns="0" tIns="0" rIns="0" bIns="0" rtlCol="0" anchor="ctr">
            <a:normAutofit/>
          </a:bodyPr>
          <a:lstStyle/>
          <a:p>
            <a:pPr indent="0" marL="0">
              <a:buNone/>
            </a:pPr>
            <a:r>
              <a:rPr lang="en-US" sz="2500" b="1" dirty="0">
                <a:solidFill>
                  <a:srgbClr val="102033"/>
                </a:solidFill>
                <a:latin typeface="Aptos Display" pitchFamily="34" charset="0"/>
                <a:ea typeface="Aptos Display" pitchFamily="34" charset="-122"/>
                <a:cs typeface="Aptos Display" pitchFamily="34" charset="-120"/>
              </a:rPr>
              <a:t>En buyuk kazanim: testler mimarinin parcasi olarak dusunulmeli</a:t>
            </a:r>
            <a:endParaRPr lang="en-US" sz="2500" dirty="0"/>
          </a:p>
        </p:txBody>
      </p:sp>
      <p:sp>
        <p:nvSpPr>
          <p:cNvPr id="5" name="Text 3"/>
          <p:cNvSpPr/>
          <p:nvPr/>
        </p:nvSpPr>
        <p:spPr>
          <a:xfrm>
            <a:off x="11292840" y="384048"/>
            <a:ext cx="384048" cy="228600"/>
          </a:xfrm>
          <a:prstGeom prst="rect">
            <a:avLst/>
          </a:prstGeom>
          <a:solidFill>
            <a:srgbClr val="0F172A"/>
          </a:solidFill>
          <a:ln>
            <a:solidFill>
              <a:srgbClr val="0F172A"/>
            </a:solidFill>
          </a:ln>
        </p:spPr>
        <p:txBody>
          <a:bodyPr wrap="square" lIns="0" tIns="0" rIns="0" bIns="0" rtlCol="0" anchor="ctr"/>
          <a:lstStyle/>
          <a:p>
            <a:pPr algn="ctr" indent="0" marL="0">
              <a:buNone/>
            </a:pPr>
            <a:r>
              <a:rPr lang="en-US" sz="800" b="1" dirty="0">
                <a:solidFill>
                  <a:srgbClr val="FFFFFF"/>
                </a:solidFill>
                <a:latin typeface="Aptos" pitchFamily="34" charset="0"/>
                <a:ea typeface="Aptos" pitchFamily="34" charset="-122"/>
                <a:cs typeface="Aptos" pitchFamily="34" charset="-120"/>
              </a:rPr>
              <a:t>07</a:t>
            </a:r>
            <a:endParaRPr lang="en-US" sz="800" dirty="0"/>
          </a:p>
        </p:txBody>
      </p:sp>
      <p:sp>
        <p:nvSpPr>
          <p:cNvPr id="6" name="Shape 4"/>
          <p:cNvSpPr/>
          <p:nvPr/>
        </p:nvSpPr>
        <p:spPr>
          <a:xfrm>
            <a:off x="685800" y="1325880"/>
            <a:ext cx="5212080" cy="4343400"/>
          </a:xfrm>
          <a:prstGeom prst="roundRect">
            <a:avLst>
              <a:gd name="adj" fmla="val 1684"/>
            </a:avLst>
          </a:prstGeom>
          <a:solidFill>
            <a:srgbClr val="FFFFFF"/>
          </a:solidFill>
          <a:ln w="12700">
            <a:solidFill>
              <a:srgbClr val="D9E2EC"/>
            </a:solidFill>
            <a:prstDash val="solid"/>
          </a:ln>
          <a:effectLst>
            <a:outerShdw sx="100000" sy="100000" kx="0" ky="0" algn="bl" rotWithShape="0" blurRad="12700" dist="50800" dir="2700000">
              <a:srgbClr val="CBD5E1">
                <a:alpha val="22000"/>
              </a:srgbClr>
            </a:outerShdw>
          </a:effectLst>
        </p:spPr>
      </p:sp>
      <p:sp>
        <p:nvSpPr>
          <p:cNvPr id="7" name="Text 5"/>
          <p:cNvSpPr/>
          <p:nvPr/>
        </p:nvSpPr>
        <p:spPr>
          <a:xfrm>
            <a:off x="1005840" y="1664208"/>
            <a:ext cx="1280160" cy="182880"/>
          </a:xfrm>
          <a:prstGeom prst="rect">
            <a:avLst/>
          </a:prstGeom>
          <a:noFill/>
          <a:ln/>
        </p:spPr>
        <p:txBody>
          <a:bodyPr wrap="square" lIns="0" tIns="0" rIns="0" bIns="0" rtlCol="0" anchor="ctr">
            <a:normAutofit/>
          </a:bodyPr>
          <a:lstStyle/>
          <a:p>
            <a:pPr indent="0" marL="0">
              <a:buNone/>
            </a:pPr>
            <a:r>
              <a:rPr lang="en-US" sz="750" b="1" dirty="0">
                <a:solidFill>
                  <a:srgbClr val="DC2626"/>
                </a:solidFill>
              </a:rPr>
              <a:t>ZORLUKLAR</a:t>
            </a:r>
            <a:endParaRPr lang="en-US" sz="750" dirty="0"/>
          </a:p>
        </p:txBody>
      </p:sp>
      <p:sp>
        <p:nvSpPr>
          <p:cNvPr id="8" name="Text 6"/>
          <p:cNvSpPr/>
          <p:nvPr/>
        </p:nvSpPr>
        <p:spPr>
          <a:xfrm>
            <a:off x="1005840" y="2011680"/>
            <a:ext cx="4251960" cy="1325880"/>
          </a:xfrm>
          <a:prstGeom prst="rect">
            <a:avLst/>
          </a:prstGeom>
          <a:noFill/>
          <a:ln/>
        </p:spPr>
        <p:txBody>
          <a:bodyPr wrap="square" lIns="508" tIns="508" rIns="508" bIns="508" rtlCol="0" anchor="t">
            <a:normAutofit/>
          </a:bodyPr>
          <a:lstStyle/>
          <a:p>
            <a:pPr indent="0" marL="0">
              <a:buNone/>
            </a:pPr>
            <a:r>
              <a:rPr lang="en-US" sz="1500" b="1" dirty="0">
                <a:solidFill>
                  <a:srgbClr val="102033"/>
                </a:solidFill>
                <a:latin typeface="Aptos" pitchFamily="34" charset="0"/>
                <a:ea typeface="Aptos" pitchFamily="34" charset="-122"/>
                <a:cs typeface="Aptos" pitchFamily="34" charset="-120"/>
              </a:rPr>
              <a:t>1. CI ortami ile lokal ortam farklari</a:t>
            </a:r>
            <a:endParaRPr lang="en-US" sz="1500" dirty="0"/>
          </a:p>
          <a:p>
            <a:pPr indent="0" marL="0">
              <a:buNone/>
            </a:pPr>
            <a:r>
              <a:rPr lang="en-US" sz="1500" b="1" dirty="0">
                <a:solidFill>
                  <a:srgbClr val="102033"/>
                </a:solidFill>
                <a:latin typeface="Aptos" pitchFamily="34" charset="0"/>
                <a:ea typeface="Aptos" pitchFamily="34" charset="-122"/>
                <a:cs typeface="Aptos" pitchFamily="34" charset="-120"/>
              </a:rPr>
              <a:t>2. Testcontainers icin Docker bagimliligi</a:t>
            </a:r>
            <a:endParaRPr lang="en-US" sz="1500" dirty="0"/>
          </a:p>
          <a:p>
            <a:pPr indent="0" marL="0">
              <a:buNone/>
            </a:pPr>
            <a:r>
              <a:rPr lang="en-US" sz="1500" b="1" dirty="0">
                <a:solidFill>
                  <a:srgbClr val="102033"/>
                </a:solidFill>
                <a:latin typeface="Aptos" pitchFamily="34" charset="0"/>
                <a:ea typeface="Aptos" pitchFamily="34" charset="-122"/>
                <a:cs typeface="Aptos" pitchFamily="34" charset="-120"/>
              </a:rPr>
              <a:t>3. UI degistikce Playwright selector uyumu</a:t>
            </a:r>
            <a:endParaRPr lang="en-US" sz="1500" dirty="0"/>
          </a:p>
        </p:txBody>
      </p:sp>
      <p:sp>
        <p:nvSpPr>
          <p:cNvPr id="9" name="Text 7"/>
          <p:cNvSpPr/>
          <p:nvPr/>
        </p:nvSpPr>
        <p:spPr>
          <a:xfrm>
            <a:off x="1005840" y="3886200"/>
            <a:ext cx="1645920" cy="182880"/>
          </a:xfrm>
          <a:prstGeom prst="rect">
            <a:avLst/>
          </a:prstGeom>
          <a:noFill/>
          <a:ln/>
        </p:spPr>
        <p:txBody>
          <a:bodyPr wrap="square" lIns="0" tIns="0" rIns="0" bIns="0" rtlCol="0" anchor="ctr">
            <a:normAutofit/>
          </a:bodyPr>
          <a:lstStyle/>
          <a:p>
            <a:pPr indent="0" marL="0">
              <a:buNone/>
            </a:pPr>
            <a:r>
              <a:rPr lang="en-US" sz="750" b="1" dirty="0">
                <a:solidFill>
                  <a:srgbClr val="059669"/>
                </a:solidFill>
              </a:rPr>
              <a:t>NASIL COZULDU?</a:t>
            </a:r>
            <a:endParaRPr lang="en-US" sz="750" dirty="0"/>
          </a:p>
        </p:txBody>
      </p:sp>
      <p:sp>
        <p:nvSpPr>
          <p:cNvPr id="10" name="Text 8"/>
          <p:cNvSpPr/>
          <p:nvPr/>
        </p:nvSpPr>
        <p:spPr>
          <a:xfrm>
            <a:off x="1005840" y="4187952"/>
            <a:ext cx="4297680" cy="685800"/>
          </a:xfrm>
          <a:prstGeom prst="rect">
            <a:avLst/>
          </a:prstGeom>
          <a:noFill/>
          <a:ln/>
        </p:spPr>
        <p:txBody>
          <a:bodyPr wrap="square" lIns="508" tIns="508" rIns="508" bIns="508" rtlCol="0" anchor="t">
            <a:normAutofit/>
          </a:bodyPr>
          <a:lstStyle/>
          <a:p>
            <a:pPr indent="0" marL="0">
              <a:buNone/>
            </a:pPr>
            <a:r>
              <a:rPr lang="en-US" sz="1240" dirty="0">
                <a:solidFill>
                  <a:srgbClr val="102033"/>
                </a:solidFill>
                <a:latin typeface="Aptos" pitchFamily="34" charset="0"/>
                <a:ea typeface="Aptos" pitchFamily="34" charset="-122"/>
                <a:cs typeface="Aptos" pitchFamily="34" charset="-120"/>
              </a:rPr>
              <a:t>Dependency override, fixture izolasyonu, smoke testler ve daha kararlı UI id'leri ile pipeline guvenilir hale getirildi.</a:t>
            </a:r>
            <a:endParaRPr lang="en-US" sz="1240" dirty="0"/>
          </a:p>
        </p:txBody>
      </p:sp>
      <p:sp>
        <p:nvSpPr>
          <p:cNvPr id="11" name="Shape 9"/>
          <p:cNvSpPr/>
          <p:nvPr/>
        </p:nvSpPr>
        <p:spPr>
          <a:xfrm>
            <a:off x="6263640" y="1325880"/>
            <a:ext cx="5212080" cy="4343400"/>
          </a:xfrm>
          <a:prstGeom prst="roundRect">
            <a:avLst>
              <a:gd name="adj" fmla="val 1684"/>
            </a:avLst>
          </a:prstGeom>
          <a:solidFill>
            <a:srgbClr val="EFF6FF"/>
          </a:solidFill>
          <a:ln w="12700">
            <a:solidFill>
              <a:srgbClr val="BFDBFE"/>
            </a:solidFill>
            <a:prstDash val="solid"/>
          </a:ln>
          <a:effectLst>
            <a:outerShdw sx="100000" sy="100000" kx="0" ky="0" algn="bl" rotWithShape="0" blurRad="12700" dist="50800" dir="2700000">
              <a:srgbClr val="CBD5E1">
                <a:alpha val="22000"/>
              </a:srgbClr>
            </a:outerShdw>
          </a:effectLst>
        </p:spPr>
      </p:sp>
      <p:sp>
        <p:nvSpPr>
          <p:cNvPr id="12" name="Text 10"/>
          <p:cNvSpPr/>
          <p:nvPr/>
        </p:nvSpPr>
        <p:spPr>
          <a:xfrm>
            <a:off x="6583680" y="1664208"/>
            <a:ext cx="1828800" cy="182880"/>
          </a:xfrm>
          <a:prstGeom prst="rect">
            <a:avLst/>
          </a:prstGeom>
          <a:noFill/>
          <a:ln/>
        </p:spPr>
        <p:txBody>
          <a:bodyPr wrap="square" lIns="0" tIns="0" rIns="0" bIns="0" rtlCol="0" anchor="ctr">
            <a:normAutofit/>
          </a:bodyPr>
          <a:lstStyle/>
          <a:p>
            <a:pPr indent="0" marL="0">
              <a:buNone/>
            </a:pPr>
            <a:r>
              <a:rPr lang="en-US" sz="750" b="1" dirty="0">
                <a:solidFill>
                  <a:srgbClr val="2563EB"/>
                </a:solidFill>
              </a:rPr>
              <a:t>OGRENDIKLERIMIZ</a:t>
            </a:r>
            <a:endParaRPr lang="en-US" sz="750" dirty="0"/>
          </a:p>
        </p:txBody>
      </p:sp>
      <p:sp>
        <p:nvSpPr>
          <p:cNvPr id="13" name="Text 11"/>
          <p:cNvSpPr/>
          <p:nvPr/>
        </p:nvSpPr>
        <p:spPr>
          <a:xfrm>
            <a:off x="6583680" y="2011680"/>
            <a:ext cx="4251960" cy="2103120"/>
          </a:xfrm>
          <a:prstGeom prst="rect">
            <a:avLst/>
          </a:prstGeom>
          <a:noFill/>
          <a:ln/>
        </p:spPr>
        <p:txBody>
          <a:bodyPr wrap="square" lIns="508" tIns="508" rIns="508" bIns="508" rtlCol="0" anchor="t">
            <a:normAutofit/>
          </a:bodyPr>
          <a:lstStyle/>
          <a:p>
            <a:pPr indent="0" marL="0">
              <a:buNone/>
            </a:pPr>
            <a:r>
              <a:rPr lang="en-US" sz="1400" b="1" dirty="0">
                <a:solidFill>
                  <a:srgbClr val="102033"/>
                </a:solidFill>
                <a:latin typeface="Aptos" pitchFamily="34" charset="0"/>
                <a:ea typeface="Aptos" pitchFamily="34" charset="-122"/>
                <a:cs typeface="Aptos" pitchFamily="34" charset="-120"/>
              </a:rPr>
              <a:t>Test piramidi tek bir arac degil, katmanli bir guven stratejisidir.</a:t>
            </a:r>
            <a:endParaRPr lang="en-US" sz="1400" dirty="0"/>
          </a:p>
          <a:p>
            <a:pPr indent="0" marL="0">
              <a:buNone/>
            </a:pPr>
            <a:endParaRPr lang="en-US" sz="1400" dirty="0"/>
          </a:p>
          <a:p>
            <a:pPr indent="0" marL="0">
              <a:buNone/>
            </a:pPr>
            <a:r>
              <a:rPr lang="en-US" sz="1400" b="1" dirty="0">
                <a:solidFill>
                  <a:srgbClr val="102033"/>
                </a:solidFill>
                <a:latin typeface="Aptos" pitchFamily="34" charset="0"/>
                <a:ea typeface="Aptos" pitchFamily="34" charset="-122"/>
                <a:cs typeface="Aptos" pitchFamily="34" charset="-120"/>
              </a:rPr>
              <a:t>Container ve K8s sadece deploy degil, tekrar edilebilir ortam saglar.</a:t>
            </a:r>
            <a:endParaRPr lang="en-US" sz="1400" dirty="0"/>
          </a:p>
          <a:p>
            <a:pPr indent="0" marL="0">
              <a:buNone/>
            </a:pPr>
            <a:endParaRPr lang="en-US" sz="1400" dirty="0"/>
          </a:p>
          <a:p>
            <a:pPr indent="0" marL="0">
              <a:buNone/>
            </a:pPr>
            <a:r>
              <a:rPr lang="en-US" sz="1400" b="1" dirty="0">
                <a:solidFill>
                  <a:srgbClr val="102033"/>
                </a:solidFill>
                <a:latin typeface="Aptos" pitchFamily="34" charset="0"/>
                <a:ea typeface="Aptos" pitchFamily="34" charset="-122"/>
                <a:cs typeface="Aptos" pitchFamily="34" charset="-120"/>
              </a:rPr>
              <a:t>Observability olmadan performans ve hata davranisi savunulamaz.</a:t>
            </a:r>
            <a:endParaRPr lang="en-US" sz="1400" dirty="0"/>
          </a:p>
        </p:txBody>
      </p:sp>
      <p:sp>
        <p:nvSpPr>
          <p:cNvPr id="14" name="Text 12"/>
          <p:cNvSpPr/>
          <p:nvPr/>
        </p:nvSpPr>
        <p:spPr>
          <a:xfrm>
            <a:off x="6583680" y="4892040"/>
            <a:ext cx="4160520" cy="219456"/>
          </a:xfrm>
          <a:prstGeom prst="rect">
            <a:avLst/>
          </a:prstGeom>
          <a:noFill/>
          <a:ln/>
        </p:spPr>
        <p:txBody>
          <a:bodyPr wrap="square" lIns="0" tIns="0" rIns="0" bIns="0" rtlCol="0" anchor="ctr">
            <a:normAutofit/>
          </a:bodyPr>
          <a:lstStyle/>
          <a:p>
            <a:pPr indent="0" marL="0">
              <a:buNone/>
            </a:pPr>
            <a:r>
              <a:rPr lang="en-US" sz="1150" b="1" dirty="0">
                <a:solidFill>
                  <a:srgbClr val="059669"/>
                </a:solidFill>
              </a:rPr>
              <a:t>Canli demo: URL olustur -&gt; redirect -&gt; stats -&gt; metrics</a:t>
            </a:r>
            <a:endParaRPr lang="en-US" sz="1150" dirty="0"/>
          </a:p>
        </p:txBody>
      </p:sp>
      <p:sp>
        <p:nvSpPr>
          <p:cNvPr id="15" name="Shape 13"/>
          <p:cNvSpPr/>
          <p:nvPr/>
        </p:nvSpPr>
        <p:spPr>
          <a:xfrm>
            <a:off x="777240" y="5779008"/>
            <a:ext cx="10469880" cy="566928"/>
          </a:xfrm>
          <a:prstGeom prst="roundRect">
            <a:avLst>
              <a:gd name="adj" fmla="val 8065"/>
            </a:avLst>
          </a:prstGeom>
          <a:solidFill>
            <a:srgbClr val="FFFFFF"/>
          </a:solidFill>
          <a:ln w="13970">
            <a:solidFill>
              <a:srgbClr val="6D28D9">
                <a:alpha val="82000"/>
              </a:srgbClr>
            </a:solidFill>
            <a:prstDash val="solid"/>
          </a:ln>
          <a:effectLst>
            <a:outerShdw sx="100000" sy="100000" kx="0" ky="0" algn="bl" rotWithShape="0" blurRad="12700" dist="50800" dir="2700000">
              <a:srgbClr val="CBD5E1">
                <a:alpha val="18000"/>
              </a:srgbClr>
            </a:outerShdw>
          </a:effectLst>
        </p:spPr>
      </p:sp>
      <p:sp>
        <p:nvSpPr>
          <p:cNvPr id="16" name="Shape 14"/>
          <p:cNvSpPr/>
          <p:nvPr/>
        </p:nvSpPr>
        <p:spPr>
          <a:xfrm>
            <a:off x="777240" y="5779008"/>
            <a:ext cx="73152" cy="566928"/>
          </a:xfrm>
          <a:prstGeom prst="rect">
            <a:avLst/>
          </a:prstGeom>
          <a:solidFill>
            <a:srgbClr val="6D28D9"/>
          </a:solidFill>
          <a:ln w="12700">
            <a:solidFill>
              <a:srgbClr val="6D28D9"/>
            </a:solidFill>
            <a:prstDash val="solid"/>
          </a:ln>
        </p:spPr>
      </p:sp>
      <p:sp>
        <p:nvSpPr>
          <p:cNvPr id="17" name="Text 15"/>
          <p:cNvSpPr/>
          <p:nvPr/>
        </p:nvSpPr>
        <p:spPr>
          <a:xfrm>
            <a:off x="978408" y="5907024"/>
            <a:ext cx="10085832" cy="146304"/>
          </a:xfrm>
          <a:prstGeom prst="rect">
            <a:avLst/>
          </a:prstGeom>
          <a:noFill/>
          <a:ln/>
        </p:spPr>
        <p:txBody>
          <a:bodyPr wrap="square" lIns="0" tIns="0" rIns="0" bIns="0" rtlCol="0" anchor="ctr">
            <a:normAutofit/>
          </a:bodyPr>
          <a:lstStyle/>
          <a:p>
            <a:pPr indent="0" marL="0">
              <a:buNone/>
            </a:pPr>
            <a:r>
              <a:rPr lang="en-US" sz="750" b="1" dirty="0">
                <a:solidFill>
                  <a:srgbClr val="6D28D9"/>
                </a:solidFill>
              </a:rPr>
              <a:t>KAPANIS CUMLESI</a:t>
            </a:r>
            <a:endParaRPr lang="en-US" sz="750" dirty="0"/>
          </a:p>
        </p:txBody>
      </p:sp>
      <p:sp>
        <p:nvSpPr>
          <p:cNvPr id="18" name="Text 16"/>
          <p:cNvSpPr/>
          <p:nvPr/>
        </p:nvSpPr>
        <p:spPr>
          <a:xfrm>
            <a:off x="978408" y="6135624"/>
            <a:ext cx="10085832" cy="91440"/>
          </a:xfrm>
          <a:prstGeom prst="rect">
            <a:avLst/>
          </a:prstGeom>
          <a:noFill/>
          <a:ln/>
        </p:spPr>
        <p:txBody>
          <a:bodyPr wrap="square" lIns="254" tIns="254" rIns="254" bIns="254" rtlCol="0" anchor="t">
            <a:normAutofit/>
          </a:bodyPr>
          <a:lstStyle/>
          <a:p>
            <a:pPr indent="0" marL="0">
              <a:buNone/>
            </a:pPr>
            <a:r>
              <a:rPr lang="en-US" sz="940" dirty="0">
                <a:solidFill>
                  <a:srgbClr val="102033"/>
                </a:solidFill>
              </a:rPr>
              <a:t>Bu projede en önemli kazanımımız, testlerin ayrı bir son kontrol değil mimarinin parçası olarak düşünülmesi gerektiğini görmek oldu. Lokal ortam, CI ortamı, Docker ve Kubernetes arasında farklar çıktı; bunları fixture izolasyonu, environment ayarları ve smoke testlerle yönettik. Sonuçta çalışan bir mikroservisin yanında savunulabilir bir test ve dağıtım altyapısı kurduk.</a:t>
            </a:r>
            <a:endParaRPr lang="en-US" sz="940" dirty="0"/>
          </a:p>
        </p:txBody>
      </p:sp>
      <p:sp>
        <p:nvSpPr>
          <p:cNvPr id="20" name="Text 17"/>
          <p:cNvSpPr/>
          <p:nvPr/>
        </p:nvSpPr>
        <p:spPr>
          <a:xfrm>
            <a:off x="502920" y="6510528"/>
            <a:ext cx="5212080" cy="164592"/>
          </a:xfrm>
          <a:prstGeom prst="rect">
            <a:avLst/>
          </a:prstGeom>
          <a:noFill/>
          <a:ln/>
        </p:spPr>
        <p:txBody>
          <a:bodyPr wrap="square" lIns="0" tIns="0" rIns="0" bIns="0" rtlCol="0" anchor="ctr"/>
          <a:lstStyle/>
          <a:p>
            <a:pPr indent="0" marL="0">
              <a:buNone/>
            </a:pPr>
            <a:r>
              <a:rPr lang="en-US" sz="700" dirty="0">
                <a:solidFill>
                  <a:srgbClr val="708090"/>
                </a:solidFill>
              </a:rPr>
              <a:t>URL Shortener Service | Bulut Mimarilerinde Test Muhendisligi</a:t>
            </a:r>
            <a:endParaRPr lang="en-US" sz="700" dirty="0"/>
          </a:p>
        </p:txBody>
      </p:sp>
      <p:sp>
        <p:nvSpPr>
          <p:cNvPr id="21" name="Text 18"/>
          <p:cNvSpPr/>
          <p:nvPr/>
        </p:nvSpPr>
        <p:spPr>
          <a:xfrm>
            <a:off x="9235440" y="6510528"/>
            <a:ext cx="2423160" cy="164592"/>
          </a:xfrm>
          <a:prstGeom prst="rect">
            <a:avLst/>
          </a:prstGeom>
          <a:noFill/>
          <a:ln/>
        </p:spPr>
        <p:txBody>
          <a:bodyPr wrap="square" lIns="0" tIns="0" rIns="0" bIns="0" rtlCol="0" anchor="ctr"/>
          <a:lstStyle/>
          <a:p>
            <a:pPr algn="r" indent="0" marL="0">
              <a:buNone/>
            </a:pPr>
            <a:r>
              <a:rPr lang="en-US" sz="700" dirty="0">
                <a:solidFill>
                  <a:srgbClr val="708090"/>
                </a:solidFill>
              </a:rPr>
              <a:t>Talha Ergelen | Osman Cingoz</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Marmara Universitesi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URL Shortener Service</dc:title>
  <dc:subject>Bulut Mimarilerinde Test Muhendisligi Donem Projesi</dc:subject>
  <dc:creator>Talha Ergelen, Osman Cingoz</dc:creator>
  <cp:lastModifiedBy>Talha Ergelen, Osman Cingoz</cp:lastModifiedBy>
  <cp:revision>1</cp:revision>
  <dcterms:created xsi:type="dcterms:W3CDTF">2026-06-02T14:13:29Z</dcterms:created>
  <dcterms:modified xsi:type="dcterms:W3CDTF">2026-06-02T14:13:29Z</dcterms:modified>
</cp:coreProperties>
</file>